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71" r:id="rId14"/>
    <p:sldId id="282" r:id="rId15"/>
    <p:sldId id="275" r:id="rId16"/>
    <p:sldId id="276" r:id="rId17"/>
    <p:sldId id="277" r:id="rId18"/>
    <p:sldId id="278" r:id="rId19"/>
    <p:sldId id="280" r:id="rId20"/>
    <p:sldId id="28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C5A44-6263-46EB-983C-AD2BFEF9089A}" type="datetimeFigureOut">
              <a:rPr lang="en-PK" smtClean="0"/>
              <a:t>15/10/2026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81DD0D-5884-4714-8103-ADEA4657D084}" type="slidenum">
              <a:rPr lang="en-PK" smtClean="0"/>
              <a:t>‹#›</a:t>
            </a:fld>
            <a:endParaRPr lang="en-PK"/>
          </a:p>
        </p:txBody>
      </p:sp>
    </p:spTree>
    <p:extLst>
      <p:ext uri="{BB962C8B-B14F-4D97-AF65-F5344CB8AC3E}">
        <p14:creationId xmlns:p14="http://schemas.microsoft.com/office/powerpoint/2010/main" val="2240103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road once: foundation, trust, marketplace (Practicum-I gate at Month 6), care, shop and smart, launch. Every one of the 29 user stories sits on one of these stops (see Appendix A4). Timings are mapped from the WBS and overlap by design.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47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304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778240" y="109728"/>
            <a:ext cx="3410712" cy="6748272"/>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555480" y="109728"/>
            <a:ext cx="2633472" cy="6748272"/>
          </a:xfrm>
          <a:prstGeom prst="rect">
            <a:avLst/>
          </a:prstGeom>
          <a:solidFill>
            <a:srgbClr val="1B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960120"/>
            <a:ext cx="7680960" cy="594360"/>
          </a:xfrm>
          <a:prstGeom prst="rect">
            <a:avLst/>
          </a:prstGeom>
          <a:noFill/>
        </p:spPr>
        <p:txBody>
          <a:bodyPr wrap="square" lIns="36576" tIns="27432" rIns="36576" bIns="18288">
            <a:spAutoFit/>
          </a:bodyPr>
          <a:lstStyle/>
          <a:p>
            <a:pPr>
              <a:defRPr sz="3600" b="1">
                <a:solidFill>
                  <a:srgbClr val="FFFFFF"/>
                </a:solidFill>
                <a:latin typeface="Aptos Display"/>
              </a:defRPr>
            </a:pPr>
            <a:r>
              <a:t>THEPETSVault</a:t>
            </a:r>
          </a:p>
        </p:txBody>
      </p:sp>
      <p:sp>
        <p:nvSpPr>
          <p:cNvPr id="6" name="TextBox 5"/>
          <p:cNvSpPr txBox="1"/>
          <p:nvPr/>
        </p:nvSpPr>
        <p:spPr>
          <a:xfrm>
            <a:off x="749808" y="1737360"/>
            <a:ext cx="7589520" cy="960120"/>
          </a:xfrm>
          <a:prstGeom prst="rect">
            <a:avLst/>
          </a:prstGeom>
          <a:noFill/>
        </p:spPr>
        <p:txBody>
          <a:bodyPr wrap="square" lIns="36576" tIns="27432" rIns="36576" bIns="18288">
            <a:spAutoFit/>
          </a:bodyPr>
          <a:lstStyle/>
          <a:p>
            <a:pPr>
              <a:defRPr sz="2900" b="1">
                <a:solidFill>
                  <a:srgbClr val="FFFFFF"/>
                </a:solidFill>
                <a:latin typeface="Aptos Display"/>
              </a:defRPr>
            </a:pPr>
            <a:r>
              <a:t>AI-Powered Pet Care &amp;</a:t>
            </a:r>
            <a:br/>
            <a:r>
              <a:t>Marketplace Ecosystem</a:t>
            </a:r>
          </a:p>
        </p:txBody>
      </p:sp>
      <p:sp>
        <p:nvSpPr>
          <p:cNvPr id="7" name="TextBox 6"/>
          <p:cNvSpPr txBox="1"/>
          <p:nvPr/>
        </p:nvSpPr>
        <p:spPr>
          <a:xfrm>
            <a:off x="777240" y="3063240"/>
            <a:ext cx="7132320" cy="640080"/>
          </a:xfrm>
          <a:prstGeom prst="rect">
            <a:avLst/>
          </a:prstGeom>
          <a:noFill/>
        </p:spPr>
        <p:txBody>
          <a:bodyPr wrap="square" lIns="36576" tIns="27432" rIns="36576" bIns="18288">
            <a:spAutoFit/>
          </a:bodyPr>
          <a:lstStyle/>
          <a:p>
            <a:pPr>
              <a:defRPr sz="1700" b="0">
                <a:solidFill>
                  <a:srgbClr val="DEEBF5"/>
                </a:solidFill>
                <a:latin typeface="Aptos"/>
              </a:defRPr>
            </a:pPr>
            <a:r>
              <a:t>Buy &amp; sell pets  •  Pet sitting  •  Vet care  •  Food &amp; accessories</a:t>
            </a:r>
          </a:p>
        </p:txBody>
      </p:sp>
      <p:sp>
        <p:nvSpPr>
          <p:cNvPr id="8" name="TextBox 7"/>
          <p:cNvSpPr txBox="1"/>
          <p:nvPr/>
        </p:nvSpPr>
        <p:spPr>
          <a:xfrm>
            <a:off x="777240" y="4892040"/>
            <a:ext cx="7132320" cy="320040"/>
          </a:xfrm>
          <a:prstGeom prst="rect">
            <a:avLst/>
          </a:prstGeom>
          <a:noFill/>
        </p:spPr>
        <p:txBody>
          <a:bodyPr wrap="square" lIns="36576" tIns="27432" rIns="36576" bIns="18288">
            <a:spAutoFit/>
          </a:bodyPr>
          <a:lstStyle/>
          <a:p>
            <a:pPr>
              <a:defRPr sz="1400" b="1">
                <a:solidFill>
                  <a:srgbClr val="FFFFFF"/>
                </a:solidFill>
                <a:latin typeface="Aptos"/>
              </a:defRPr>
            </a:pPr>
            <a:r>
              <a:t>PRACTICUM-I MID EVALUATION</a:t>
            </a:r>
          </a:p>
        </p:txBody>
      </p:sp>
      <p:sp>
        <p:nvSpPr>
          <p:cNvPr id="9" name="TextBox 8"/>
          <p:cNvSpPr txBox="1"/>
          <p:nvPr/>
        </p:nvSpPr>
        <p:spPr>
          <a:xfrm>
            <a:off x="777240" y="5321808"/>
            <a:ext cx="7589520" cy="594360"/>
          </a:xfrm>
          <a:prstGeom prst="rect">
            <a:avLst/>
          </a:prstGeom>
          <a:noFill/>
        </p:spPr>
        <p:txBody>
          <a:bodyPr wrap="square" lIns="36576" tIns="27432" rIns="36576" bIns="18288">
            <a:spAutoFit/>
          </a:bodyPr>
          <a:lstStyle/>
          <a:p>
            <a:pPr>
              <a:defRPr sz="1200" b="0">
                <a:solidFill>
                  <a:srgbClr val="E2ECF4"/>
                </a:solidFill>
                <a:latin typeface="Aptos"/>
              </a:defRPr>
            </a:pPr>
            <a:r>
              <a:t>Syed Rafay Hasan  |  Hammad Farman  |  Ghazi Abid  |  Laiba Mumtaz</a:t>
            </a:r>
            <a:br/>
            <a:r>
              <a:t>Supervisor: Muhammad Kamran</a:t>
            </a:r>
          </a:p>
        </p:txBody>
      </p:sp>
      <p:sp>
        <p:nvSpPr>
          <p:cNvPr id="10" name="TextBox 9"/>
          <p:cNvSpPr txBox="1"/>
          <p:nvPr/>
        </p:nvSpPr>
        <p:spPr>
          <a:xfrm>
            <a:off x="777240" y="6172200"/>
            <a:ext cx="7315200" cy="228600"/>
          </a:xfrm>
          <a:prstGeom prst="rect">
            <a:avLst/>
          </a:prstGeom>
          <a:noFill/>
        </p:spPr>
        <p:txBody>
          <a:bodyPr wrap="square" lIns="36576" tIns="27432" rIns="36576" bIns="18288">
            <a:spAutoFit/>
          </a:bodyPr>
          <a:lstStyle/>
          <a:p>
            <a:pPr>
              <a:defRPr sz="900" b="0">
                <a:solidFill>
                  <a:srgbClr val="E2ECF4"/>
                </a:solidFill>
                <a:latin typeface="Aptos"/>
              </a:defRPr>
            </a:pPr>
            <a:r>
              <a:t>MS in Software Project Management  •  FAST-NUCES Karachi  •  Fall 2026</a:t>
            </a:r>
          </a:p>
        </p:txBody>
      </p:sp>
      <p:sp>
        <p:nvSpPr>
          <p:cNvPr id="11" name="Oval 10"/>
          <p:cNvSpPr/>
          <p:nvPr/>
        </p:nvSpPr>
        <p:spPr>
          <a:xfrm>
            <a:off x="9555480" y="1417320"/>
            <a:ext cx="1188720" cy="1188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244584" y="1060704"/>
            <a:ext cx="621792" cy="62179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387584" y="1060704"/>
            <a:ext cx="621792" cy="62179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372600" y="2359152"/>
            <a:ext cx="493776" cy="49377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424160" y="2359152"/>
            <a:ext cx="493776" cy="49377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89720" y="3657600"/>
            <a:ext cx="2651760" cy="1005840"/>
          </a:xfrm>
          <a:prstGeom prst="rect">
            <a:avLst/>
          </a:prstGeom>
          <a:noFill/>
        </p:spPr>
        <p:txBody>
          <a:bodyPr wrap="square" lIns="36576" tIns="27432" rIns="36576" bIns="18288">
            <a:spAutoFit/>
          </a:bodyPr>
          <a:lstStyle/>
          <a:p>
            <a:pPr algn="ctr">
              <a:defRPr sz="1600" b="1">
                <a:solidFill>
                  <a:srgbClr val="FFFFFF"/>
                </a:solidFill>
                <a:latin typeface="Aptos"/>
              </a:defRPr>
            </a:pPr>
            <a:r>
              <a:t>ONE PET PROFILE</a:t>
            </a:r>
            <a:br/>
            <a:r>
              <a:t>FOUR CONNECTED PILLARS</a:t>
            </a:r>
          </a:p>
        </p:txBody>
      </p:sp>
      <p:sp>
        <p:nvSpPr>
          <p:cNvPr id="17" name="TextBox 16"/>
          <p:cNvSpPr txBox="1"/>
          <p:nvPr/>
        </p:nvSpPr>
        <p:spPr>
          <a:xfrm>
            <a:off x="9189720" y="5029200"/>
            <a:ext cx="2651760" cy="640080"/>
          </a:xfrm>
          <a:prstGeom prst="rect">
            <a:avLst/>
          </a:prstGeom>
          <a:noFill/>
        </p:spPr>
        <p:txBody>
          <a:bodyPr wrap="square" lIns="36576" tIns="27432" rIns="36576" bIns="18288">
            <a:spAutoFit/>
          </a:bodyPr>
          <a:lstStyle/>
          <a:p>
            <a:pPr algn="ctr">
              <a:defRPr sz="1200" b="0">
                <a:solidFill>
                  <a:srgbClr val="FFFFFF"/>
                </a:solidFill>
                <a:latin typeface="Aptos"/>
              </a:defRPr>
            </a:pPr>
            <a:r>
              <a:t>Trust • Care • Continuity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Executive summary</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One trusted place for the pet-owner journey</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2</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2</a:t>
            </a:r>
          </a:p>
        </p:txBody>
      </p:sp>
      <p:sp>
        <p:nvSpPr>
          <p:cNvPr id="8" name="Rounded Rectangle 7"/>
          <p:cNvSpPr/>
          <p:nvPr/>
        </p:nvSpPr>
        <p:spPr>
          <a:xfrm>
            <a:off x="640080" y="1417320"/>
            <a:ext cx="2651760" cy="15087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THE PROBLEM</a:t>
            </a:r>
          </a:p>
          <a:p>
            <a:pPr>
              <a:spcBef>
                <a:spcPts val="700"/>
              </a:spcBef>
              <a:defRPr sz="1300">
                <a:solidFill>
                  <a:srgbClr val="27313B"/>
                </a:solidFill>
                <a:latin typeface="Aptos"/>
              </a:defRPr>
            </a:pPr>
            <a:r>
              <a:t>Pet services, records and supplies are fragmented.</a:t>
            </a:r>
          </a:p>
        </p:txBody>
      </p:sp>
      <p:sp>
        <p:nvSpPr>
          <p:cNvPr id="9" name="Rounded Rectangle 8"/>
          <p:cNvSpPr/>
          <p:nvPr/>
        </p:nvSpPr>
        <p:spPr>
          <a:xfrm>
            <a:off x="3429000" y="1417320"/>
            <a:ext cx="2651760" cy="15087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THE PRODUCT</a:t>
            </a:r>
          </a:p>
          <a:p>
            <a:pPr>
              <a:spcBef>
                <a:spcPts val="700"/>
              </a:spcBef>
              <a:defRPr sz="1300">
                <a:solidFill>
                  <a:srgbClr val="27313B"/>
                </a:solidFill>
                <a:latin typeface="Aptos"/>
              </a:defRPr>
            </a:pPr>
            <a:r>
              <a:t>Four pillars connected through one pet profile.</a:t>
            </a:r>
          </a:p>
        </p:txBody>
      </p:sp>
      <p:sp>
        <p:nvSpPr>
          <p:cNvPr id="10" name="Rounded Rectangle 9"/>
          <p:cNvSpPr/>
          <p:nvPr/>
        </p:nvSpPr>
        <p:spPr>
          <a:xfrm>
            <a:off x="6217920" y="1417320"/>
            <a:ext cx="2651760" cy="15087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THE PLAN</a:t>
            </a:r>
          </a:p>
          <a:p>
            <a:pPr>
              <a:spcBef>
                <a:spcPts val="700"/>
              </a:spcBef>
              <a:defRPr sz="1300">
                <a:solidFill>
                  <a:srgbClr val="27313B"/>
                </a:solidFill>
                <a:latin typeface="Aptos"/>
              </a:defRPr>
            </a:pPr>
            <a:r>
              <a:t>12-month roadmap; Practicum-I M1–M6, Practicum-II M7–M12.</a:t>
            </a:r>
          </a:p>
        </p:txBody>
      </p:sp>
      <p:sp>
        <p:nvSpPr>
          <p:cNvPr id="11" name="Rounded Rectangle 10"/>
          <p:cNvSpPr/>
          <p:nvPr/>
        </p:nvSpPr>
        <p:spPr>
          <a:xfrm>
            <a:off x="9006840" y="1417320"/>
            <a:ext cx="2514600" cy="15087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THE ASK</a:t>
            </a:r>
          </a:p>
          <a:p>
            <a:pPr>
              <a:spcBef>
                <a:spcPts val="700"/>
              </a:spcBef>
              <a:defRPr sz="1300">
                <a:solidFill>
                  <a:srgbClr val="27313B"/>
                </a:solidFill>
                <a:latin typeface="Aptos"/>
              </a:defRPr>
            </a:pPr>
            <a:r>
              <a:t>Review scope, plan, budget and risk baseline.</a:t>
            </a:r>
          </a:p>
        </p:txBody>
      </p:sp>
      <p:sp>
        <p:nvSpPr>
          <p:cNvPr id="12" name="TextBox 11"/>
          <p:cNvSpPr txBox="1"/>
          <p:nvPr/>
        </p:nvSpPr>
        <p:spPr>
          <a:xfrm>
            <a:off x="822960" y="3429000"/>
            <a:ext cx="10607040" cy="2194560"/>
          </a:xfrm>
          <a:prstGeom prst="rect">
            <a:avLst/>
          </a:prstGeom>
          <a:noFill/>
        </p:spPr>
        <p:txBody>
          <a:bodyPr wrap="square" lIns="73152" rIns="73152">
            <a:spAutoFit/>
          </a:bodyPr>
          <a:lstStyle/>
          <a:p>
            <a:pPr>
              <a:spcAft>
                <a:spcPts val="1200"/>
              </a:spcAft>
              <a:defRPr sz="1800">
                <a:solidFill>
                  <a:srgbClr val="27313B"/>
                </a:solidFill>
                <a:latin typeface="Aptos"/>
              </a:defRPr>
            </a:pPr>
            <a:r>
              <a:t>•  11 epics and 29 user stories in the current backlog</a:t>
            </a:r>
          </a:p>
          <a:p>
            <a:pPr>
              <a:spcAft>
                <a:spcPts val="1200"/>
              </a:spcAft>
              <a:defRPr sz="1800">
                <a:solidFill>
                  <a:srgbClr val="27313B"/>
                </a:solidFill>
                <a:latin typeface="Aptos"/>
              </a:defRPr>
            </a:pPr>
            <a:r>
              <a:t>•  PKR 4.8M planning baseline across 12 months</a:t>
            </a:r>
          </a:p>
          <a:p>
            <a:pPr>
              <a:spcAft>
                <a:spcPts val="1200"/>
              </a:spcAft>
              <a:defRPr sz="1800">
                <a:solidFill>
                  <a:srgbClr val="27313B"/>
                </a:solidFill>
                <a:latin typeface="Aptos"/>
              </a:defRPr>
            </a:pPr>
            <a:r>
              <a:t>•  Karachi pilot planned for Month 9</a:t>
            </a:r>
          </a:p>
          <a:p>
            <a:pPr>
              <a:spcAft>
                <a:spcPts val="1200"/>
              </a:spcAft>
              <a:defRPr sz="1800">
                <a:solidFill>
                  <a:srgbClr val="27313B"/>
                </a:solidFill>
                <a:latin typeface="Aptos"/>
              </a:defRPr>
            </a:pPr>
            <a:r>
              <a:t>•  Current stage and actual completion must be reported using evidence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Problem &amp; opportunity</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The project problem hypothesis to validate through user and supply-side research</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3</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3</a:t>
            </a:r>
          </a:p>
        </p:txBody>
      </p:sp>
      <p:sp>
        <p:nvSpPr>
          <p:cNvPr id="8" name="Rounded Rectangle 7"/>
          <p:cNvSpPr/>
          <p:nvPr/>
        </p:nvSpPr>
        <p:spPr>
          <a:xfrm>
            <a:off x="685800" y="1371600"/>
            <a:ext cx="5349240" cy="15087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Fragmented buying &amp; selling</a:t>
            </a:r>
          </a:p>
          <a:p>
            <a:pPr>
              <a:spcBef>
                <a:spcPts val="700"/>
              </a:spcBef>
              <a:defRPr sz="1300">
                <a:solidFill>
                  <a:srgbClr val="27313B"/>
                </a:solidFill>
                <a:latin typeface="Aptos"/>
              </a:defRPr>
            </a:pPr>
            <a:r>
              <a:t>Social channels can lack consistent verification, payment protection and accountability.</a:t>
            </a:r>
          </a:p>
        </p:txBody>
      </p:sp>
      <p:sp>
        <p:nvSpPr>
          <p:cNvPr id="9" name="Rounded Rectangle 8"/>
          <p:cNvSpPr/>
          <p:nvPr/>
        </p:nvSpPr>
        <p:spPr>
          <a:xfrm>
            <a:off x="6217920" y="1371600"/>
            <a:ext cx="5257800" cy="15087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Scattered health records</a:t>
            </a:r>
          </a:p>
          <a:p>
            <a:pPr>
              <a:spcBef>
                <a:spcPts val="700"/>
              </a:spcBef>
              <a:defRPr sz="1300">
                <a:solidFill>
                  <a:srgbClr val="27313B"/>
                </a:solidFill>
                <a:latin typeface="Aptos"/>
              </a:defRPr>
            </a:pPr>
            <a:r>
              <a:t>Vaccination history may sit on paper, in chats or separate clinic systems.</a:t>
            </a:r>
          </a:p>
        </p:txBody>
      </p:sp>
      <p:sp>
        <p:nvSpPr>
          <p:cNvPr id="10" name="Rounded Rectangle 9"/>
          <p:cNvSpPr/>
          <p:nvPr/>
        </p:nvSpPr>
        <p:spPr>
          <a:xfrm>
            <a:off x="685800" y="3154680"/>
            <a:ext cx="5349240" cy="15087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Hard to find safe care</a:t>
            </a:r>
          </a:p>
          <a:p>
            <a:pPr>
              <a:spcBef>
                <a:spcPts val="700"/>
              </a:spcBef>
              <a:defRPr sz="1300">
                <a:solidFill>
                  <a:srgbClr val="27313B"/>
                </a:solidFill>
                <a:latin typeface="Aptos"/>
              </a:defRPr>
            </a:pPr>
            <a:r>
              <a:t>Owners may rely on personal contacts for sitting, without standard care instructions or emergency workflows.</a:t>
            </a:r>
          </a:p>
        </p:txBody>
      </p:sp>
      <p:sp>
        <p:nvSpPr>
          <p:cNvPr id="11" name="Rounded Rectangle 10"/>
          <p:cNvSpPr/>
          <p:nvPr/>
        </p:nvSpPr>
        <p:spPr>
          <a:xfrm>
            <a:off x="6217920" y="3154680"/>
            <a:ext cx="5257800" cy="15087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Disconnected supplies</a:t>
            </a:r>
          </a:p>
          <a:p>
            <a:pPr>
              <a:spcBef>
                <a:spcPts val="700"/>
              </a:spcBef>
              <a:defRPr sz="1300">
                <a:solidFill>
                  <a:srgbClr val="27313B"/>
                </a:solidFill>
                <a:latin typeface="Aptos"/>
              </a:defRPr>
            </a:pPr>
            <a:r>
              <a:t>Food and accessories are purchased separately from health records and care advice.</a:t>
            </a:r>
          </a:p>
        </p:txBody>
      </p:sp>
      <p:sp>
        <p:nvSpPr>
          <p:cNvPr id="12" name="TextBox 11"/>
          <p:cNvSpPr txBox="1"/>
          <p:nvPr/>
        </p:nvSpPr>
        <p:spPr>
          <a:xfrm>
            <a:off x="822960" y="5166360"/>
            <a:ext cx="10515600" cy="594360"/>
          </a:xfrm>
          <a:prstGeom prst="rect">
            <a:avLst/>
          </a:prstGeom>
          <a:noFill/>
        </p:spPr>
        <p:txBody>
          <a:bodyPr wrap="square" lIns="36576" tIns="27432" rIns="36576" bIns="18288">
            <a:spAutoFit/>
          </a:bodyPr>
          <a:lstStyle/>
          <a:p>
            <a:pPr>
              <a:defRPr sz="1900" b="1">
                <a:solidFill>
                  <a:srgbClr val="14304C"/>
                </a:solidFill>
                <a:latin typeface="Aptos"/>
              </a:defRPr>
            </a:pPr>
            <a:r>
              <a:t>Opportunity: move from passive classifieds to a trusted service marketplace built around one portable pet profile.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Project objectives &amp; success criteria</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4</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4</a:t>
            </a:r>
          </a:p>
        </p:txBody>
      </p:sp>
      <p:sp>
        <p:nvSpPr>
          <p:cNvPr id="8" name="Rounded Rectangle 7"/>
          <p:cNvSpPr/>
          <p:nvPr/>
        </p:nvSpPr>
        <p:spPr>
          <a:xfrm>
            <a:off x="685800" y="1325880"/>
            <a:ext cx="3474720" cy="15087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FUNCTIONAL</a:t>
            </a:r>
          </a:p>
          <a:p>
            <a:pPr>
              <a:spcBef>
                <a:spcPts val="700"/>
              </a:spcBef>
              <a:defRPr sz="1200">
                <a:solidFill>
                  <a:srgbClr val="27313B"/>
                </a:solidFill>
                <a:latin typeface="Aptos"/>
              </a:defRPr>
            </a:pPr>
            <a:r>
              <a:t>Deliver approved Must-have scope across listings, sitting, vet care, records, store and admin.</a:t>
            </a:r>
          </a:p>
        </p:txBody>
      </p:sp>
      <p:sp>
        <p:nvSpPr>
          <p:cNvPr id="9" name="Rounded Rectangle 8"/>
          <p:cNvSpPr/>
          <p:nvPr/>
        </p:nvSpPr>
        <p:spPr>
          <a:xfrm>
            <a:off x="4480560" y="1325880"/>
            <a:ext cx="3474720" cy="15087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TRUST &amp; SAFETY</a:t>
            </a:r>
          </a:p>
          <a:p>
            <a:pPr>
              <a:spcBef>
                <a:spcPts val="700"/>
              </a:spcBef>
              <a:defRPr sz="1200">
                <a:solidFill>
                  <a:srgbClr val="27313B"/>
                </a:solidFill>
                <a:latin typeface="Aptos"/>
              </a:defRPr>
            </a:pPr>
            <a:r>
              <a:t>Verification, moderation, dispute workflows, consent and approved payment provider.</a:t>
            </a:r>
          </a:p>
        </p:txBody>
      </p:sp>
      <p:sp>
        <p:nvSpPr>
          <p:cNvPr id="10" name="Rounded Rectangle 9"/>
          <p:cNvSpPr/>
          <p:nvPr/>
        </p:nvSpPr>
        <p:spPr>
          <a:xfrm>
            <a:off x="8275320" y="1325880"/>
            <a:ext cx="3474720" cy="15087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AI</a:t>
            </a:r>
          </a:p>
          <a:p>
            <a:pPr>
              <a:spcBef>
                <a:spcPts val="700"/>
              </a:spcBef>
              <a:defRPr sz="1200">
                <a:solidFill>
                  <a:srgbClr val="27313B"/>
                </a:solidFill>
                <a:latin typeface="Aptos"/>
              </a:defRPr>
            </a:pPr>
            <a:r>
              <a:t>Measured discovery, grounded support and triage routing; no diagnosis or prescriptions.</a:t>
            </a:r>
          </a:p>
        </p:txBody>
      </p:sp>
      <p:sp>
        <p:nvSpPr>
          <p:cNvPr id="11" name="Rounded Rectangle 10"/>
          <p:cNvSpPr/>
          <p:nvPr/>
        </p:nvSpPr>
        <p:spPr>
          <a:xfrm>
            <a:off x="685800" y="3246120"/>
            <a:ext cx="3474720" cy="15087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TECHNICAL</a:t>
            </a:r>
          </a:p>
          <a:p>
            <a:pPr>
              <a:spcBef>
                <a:spcPts val="700"/>
              </a:spcBef>
              <a:defRPr sz="1200">
                <a:solidFill>
                  <a:srgbClr val="27313B"/>
                </a:solidFill>
                <a:latin typeface="Aptos"/>
              </a:defRPr>
            </a:pPr>
            <a:r>
              <a:t>Modular APIs, RBAC, secure cloud, CI/CD and replaceable provider adapters.</a:t>
            </a:r>
          </a:p>
        </p:txBody>
      </p:sp>
      <p:sp>
        <p:nvSpPr>
          <p:cNvPr id="12" name="Rounded Rectangle 11"/>
          <p:cNvSpPr/>
          <p:nvPr/>
        </p:nvSpPr>
        <p:spPr>
          <a:xfrm>
            <a:off x="4480560" y="3246120"/>
            <a:ext cx="3474720" cy="15087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BUSINESS</a:t>
            </a:r>
          </a:p>
          <a:p>
            <a:pPr>
              <a:spcBef>
                <a:spcPts val="700"/>
              </a:spcBef>
              <a:defRPr sz="1200">
                <a:solidFill>
                  <a:srgbClr val="27313B"/>
                </a:solidFill>
                <a:latin typeface="Aptos"/>
              </a:defRPr>
            </a:pPr>
            <a:r>
              <a:t>Validate multi-stream model and Karachi-first supply onboarding.</a:t>
            </a:r>
          </a:p>
        </p:txBody>
      </p:sp>
      <p:sp>
        <p:nvSpPr>
          <p:cNvPr id="13" name="Rounded Rectangle 12"/>
          <p:cNvSpPr/>
          <p:nvPr/>
        </p:nvSpPr>
        <p:spPr>
          <a:xfrm>
            <a:off x="8275320" y="3246120"/>
            <a:ext cx="3474720" cy="15087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ACADEMIC</a:t>
            </a:r>
          </a:p>
          <a:p>
            <a:pPr>
              <a:spcBef>
                <a:spcPts val="700"/>
              </a:spcBef>
              <a:defRPr sz="1200">
                <a:solidFill>
                  <a:srgbClr val="27313B"/>
                </a:solidFill>
                <a:latin typeface="Aptos"/>
              </a:defRPr>
            </a:pPr>
            <a:r>
              <a:t>Maintain scope, WBS, schedule, risk, budget, EVM and quality evidence.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The solution: four pillars, one pet profile</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Think of a pet marketplace connected to ongoing care services</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5</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5</a:t>
            </a:r>
          </a:p>
        </p:txBody>
      </p:sp>
      <p:sp>
        <p:nvSpPr>
          <p:cNvPr id="8" name="Rounded Rectangle 7"/>
          <p:cNvSpPr/>
          <p:nvPr/>
        </p:nvSpPr>
        <p:spPr>
          <a:xfrm>
            <a:off x="658368" y="1417320"/>
            <a:ext cx="2606040" cy="19659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BUY &amp; SELL</a:t>
            </a:r>
          </a:p>
          <a:p>
            <a:pPr>
              <a:spcBef>
                <a:spcPts val="700"/>
              </a:spcBef>
              <a:defRPr sz="1200">
                <a:solidFill>
                  <a:srgbClr val="27313B"/>
                </a:solidFill>
                <a:latin typeface="Aptos"/>
              </a:defRPr>
            </a:pPr>
            <a:r>
              <a:t>Verified sellers • listings • search • messaging • provider-mediated protected payment</a:t>
            </a:r>
          </a:p>
        </p:txBody>
      </p:sp>
      <p:sp>
        <p:nvSpPr>
          <p:cNvPr id="9" name="Rounded Rectangle 8"/>
          <p:cNvSpPr/>
          <p:nvPr/>
        </p:nvSpPr>
        <p:spPr>
          <a:xfrm>
            <a:off x="3538728" y="1417320"/>
            <a:ext cx="2606040" cy="19659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PET SITTING</a:t>
            </a:r>
          </a:p>
          <a:p>
            <a:pPr>
              <a:spcBef>
                <a:spcPts val="700"/>
              </a:spcBef>
              <a:defRPr sz="1200">
                <a:solidFill>
                  <a:srgbClr val="27313B"/>
                </a:solidFill>
                <a:latin typeface="Aptos"/>
              </a:defRPr>
            </a:pPr>
            <a:r>
              <a:t>Verified sitters • availability • bookings • care instructions • emergency contact • ratings</a:t>
            </a:r>
          </a:p>
        </p:txBody>
      </p:sp>
      <p:sp>
        <p:nvSpPr>
          <p:cNvPr id="10" name="Rounded Rectangle 9"/>
          <p:cNvSpPr/>
          <p:nvPr/>
        </p:nvSpPr>
        <p:spPr>
          <a:xfrm>
            <a:off x="6419088" y="1417320"/>
            <a:ext cx="2606040" cy="19659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VET CARE</a:t>
            </a:r>
          </a:p>
          <a:p>
            <a:pPr>
              <a:spcBef>
                <a:spcPts val="700"/>
              </a:spcBef>
              <a:defRPr sz="1200">
                <a:solidFill>
                  <a:srgbClr val="27313B"/>
                </a:solidFill>
                <a:latin typeface="Aptos"/>
              </a:defRPr>
            </a:pPr>
            <a:r>
              <a:t>Licence checks • appointments • video consults • consultation notes • vaccination records</a:t>
            </a:r>
          </a:p>
        </p:txBody>
      </p:sp>
      <p:sp>
        <p:nvSpPr>
          <p:cNvPr id="11" name="Rounded Rectangle 10"/>
          <p:cNvSpPr/>
          <p:nvPr/>
        </p:nvSpPr>
        <p:spPr>
          <a:xfrm>
            <a:off x="9299448" y="1417320"/>
            <a:ext cx="2606040" cy="19659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FOOD &amp; ACCESSORIES</a:t>
            </a:r>
          </a:p>
          <a:p>
            <a:pPr>
              <a:spcBef>
                <a:spcPts val="700"/>
              </a:spcBef>
              <a:defRPr sz="1200">
                <a:solidFill>
                  <a:srgbClr val="27313B"/>
                </a:solidFill>
                <a:latin typeface="Aptos"/>
              </a:defRPr>
            </a:pPr>
            <a:r>
              <a:t>Vendor catalogue • inventory • cart/checkout • order tracking • reviews</a:t>
            </a:r>
          </a:p>
        </p:txBody>
      </p:sp>
      <p:sp>
        <p:nvSpPr>
          <p:cNvPr id="12" name="Rounded Rectangle 11"/>
          <p:cNvSpPr/>
          <p:nvPr/>
        </p:nvSpPr>
        <p:spPr>
          <a:xfrm>
            <a:off x="1005840" y="3886200"/>
            <a:ext cx="10149840" cy="1051560"/>
          </a:xfrm>
          <a:prstGeom prst="roundRect">
            <a:avLst/>
          </a:prstGeom>
          <a:solidFill>
            <a:srgbClr val="F6F8FA"/>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800" b="1">
                <a:solidFill>
                  <a:srgbClr val="14304C"/>
                </a:solidFill>
                <a:latin typeface="Aptos Display"/>
              </a:defRPr>
            </a:pPr>
            <a:r>
              <a:t>UNIFIED PET PROFILE</a:t>
            </a:r>
          </a:p>
          <a:p>
            <a:pPr>
              <a:spcBef>
                <a:spcPts val="700"/>
              </a:spcBef>
              <a:defRPr sz="1500">
                <a:solidFill>
                  <a:srgbClr val="27313B"/>
                </a:solidFill>
                <a:latin typeface="Aptos"/>
              </a:defRPr>
            </a:pPr>
            <a:r>
              <a:t>Identity • vaccination &amp; health records • bookings • purchases</a:t>
            </a:r>
          </a:p>
        </p:txBody>
      </p:sp>
      <p:sp>
        <p:nvSpPr>
          <p:cNvPr id="13" name="TextBox 12"/>
          <p:cNvSpPr txBox="1"/>
          <p:nvPr/>
        </p:nvSpPr>
        <p:spPr>
          <a:xfrm>
            <a:off x="960120" y="5257800"/>
            <a:ext cx="10241280" cy="457200"/>
          </a:xfrm>
          <a:prstGeom prst="rect">
            <a:avLst/>
          </a:prstGeom>
          <a:noFill/>
        </p:spPr>
        <p:txBody>
          <a:bodyPr wrap="square" lIns="36576" tIns="27432" rIns="36576" bIns="18288">
            <a:spAutoFit/>
          </a:bodyPr>
          <a:lstStyle/>
          <a:p>
            <a:pPr algn="ctr">
              <a:defRPr sz="1500" b="1">
                <a:solidFill>
                  <a:srgbClr val="14304C"/>
                </a:solidFill>
                <a:latin typeface="Aptos"/>
              </a:defRPr>
            </a:pPr>
            <a:r>
              <a:t>Trust layer: verified onboarding, ratings, moderation, consent and audit trail. AI is decision support, never a diagnosis.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Scope baseline</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Clear boundaries prevent scope creep</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6</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6</a:t>
            </a:r>
          </a:p>
        </p:txBody>
      </p:sp>
      <p:sp>
        <p:nvSpPr>
          <p:cNvPr id="8" name="Rounded Rectangle 7"/>
          <p:cNvSpPr/>
          <p:nvPr/>
        </p:nvSpPr>
        <p:spPr>
          <a:xfrm>
            <a:off x="685800" y="1325880"/>
            <a:ext cx="3520440" cy="434340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IN SCOPE (MVP)</a:t>
            </a:r>
          </a:p>
          <a:p>
            <a:pPr>
              <a:spcBef>
                <a:spcPts val="700"/>
              </a:spcBef>
              <a:defRPr sz="1300">
                <a:solidFill>
                  <a:srgbClr val="27313B"/>
                </a:solidFill>
                <a:latin typeface="Aptos"/>
              </a:defRPr>
            </a:pPr>
            <a:r>
              <a:t>• Registration, verification and roles</a:t>
            </a:r>
            <a:br/>
            <a:r>
              <a:t>• Pet profiles and health records</a:t>
            </a:r>
            <a:br/>
            <a:r>
              <a:t>• Pet listings, search and messaging</a:t>
            </a:r>
            <a:br/>
            <a:r>
              <a:t>• Sitting bookings and care instructions</a:t>
            </a:r>
            <a:br/>
            <a:r>
              <a:t>• Vet slots, video consults and notes</a:t>
            </a:r>
            <a:br/>
            <a:r>
              <a:t>• Product catalogue and checkout</a:t>
            </a:r>
            <a:br/>
            <a:r>
              <a:t>• Refunds, disputes, audit trail and admin</a:t>
            </a:r>
            <a:br/>
            <a:r>
              <a:t>• Notifications and three AI capabilities</a:t>
            </a:r>
            <a:br/>
            <a:r>
              <a:t>• Controlled Karachi pilot</a:t>
            </a:r>
          </a:p>
        </p:txBody>
      </p:sp>
      <p:sp>
        <p:nvSpPr>
          <p:cNvPr id="9" name="Rounded Rectangle 8"/>
          <p:cNvSpPr/>
          <p:nvPr/>
        </p:nvSpPr>
        <p:spPr>
          <a:xfrm>
            <a:off x="4343400" y="1325880"/>
            <a:ext cx="3520440" cy="4343400"/>
          </a:xfrm>
          <a:prstGeom prst="roundRect">
            <a:avLst/>
          </a:prstGeom>
          <a:solidFill>
            <a:srgbClr val="F6F8FA"/>
          </a:solidFill>
          <a:ln w="15240">
            <a:solidFill>
              <a:srgbClr val="D68B3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OUT OF SCOPE</a:t>
            </a:r>
          </a:p>
          <a:p>
            <a:pPr>
              <a:spcBef>
                <a:spcPts val="700"/>
              </a:spcBef>
              <a:defRPr sz="1300">
                <a:solidFill>
                  <a:srgbClr val="27313B"/>
                </a:solidFill>
                <a:latin typeface="Aptos"/>
              </a:defRPr>
            </a:pPr>
            <a:r>
              <a:t>• AI diagnosis or AI-written prescriptions</a:t>
            </a:r>
            <a:br/>
            <a:r>
              <a:t>• Building own payment gateway or holding regulated funds</a:t>
            </a:r>
            <a:br/>
            <a:r>
              <a:t>• Direct NADRA integration</a:t>
            </a:r>
            <a:br/>
            <a:r>
              <a:t>• Own boarding facilities, warehouse or delivery fleet</a:t>
            </a:r>
            <a:br/>
            <a:r>
              <a:t>• Insurance/claims platform</a:t>
            </a:r>
            <a:br/>
            <a:r>
              <a:t>• Protected wildlife or illegal species trading</a:t>
            </a:r>
            <a:br/>
            <a:r>
              <a:t>• Nationwide rollout before Karachi pilot</a:t>
            </a:r>
            <a:br/>
            <a:r>
              <a:t>• Image-based disease prediction</a:t>
            </a:r>
          </a:p>
        </p:txBody>
      </p:sp>
      <p:sp>
        <p:nvSpPr>
          <p:cNvPr id="10" name="Rounded Rectangle 9"/>
          <p:cNvSpPr/>
          <p:nvPr/>
        </p:nvSpPr>
        <p:spPr>
          <a:xfrm>
            <a:off x="8001000" y="1325880"/>
            <a:ext cx="3520440" cy="434340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PENDING DECISIONS</a:t>
            </a:r>
          </a:p>
          <a:p>
            <a:pPr>
              <a:spcBef>
                <a:spcPts val="700"/>
              </a:spcBef>
              <a:defRPr sz="1300">
                <a:solidFill>
                  <a:srgbClr val="27313B"/>
                </a:solidFill>
                <a:latin typeface="Aptos"/>
              </a:defRPr>
            </a:pPr>
            <a:r>
              <a:t>• Supplier payout after commission</a:t>
            </a:r>
            <a:br/>
            <a:r>
              <a:t>• Sitting incident/emergency reporting</a:t>
            </a:r>
            <a:br/>
            <a:r>
              <a:t>• AI listing-risk scoring</a:t>
            </a:r>
            <a:br/>
            <a:r>
              <a:t>• AI sitter ranking</a:t>
            </a:r>
            <a:br/>
            <a:br/>
            <a:r>
              <a:t>Change control: supervisor approval for changes affecting scope, cost &gt;5%, schedule &gt;1 week, privacy duties or AI medical boundaries.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Users &amp; key journey</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Six actors have distinct goals and permissions</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7</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7</a:t>
            </a:r>
          </a:p>
        </p:txBody>
      </p:sp>
      <p:sp>
        <p:nvSpPr>
          <p:cNvPr id="8" name="Rounded Rectangle 7"/>
          <p:cNvSpPr/>
          <p:nvPr/>
        </p:nvSpPr>
        <p:spPr>
          <a:xfrm>
            <a:off x="685800" y="1325880"/>
            <a:ext cx="3474720" cy="132588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Pet owner / buyer</a:t>
            </a:r>
          </a:p>
          <a:p>
            <a:pPr>
              <a:spcBef>
                <a:spcPts val="700"/>
              </a:spcBef>
              <a:defRPr sz="1200">
                <a:solidFill>
                  <a:srgbClr val="27313B"/>
                </a:solidFill>
                <a:latin typeface="Aptos"/>
              </a:defRPr>
            </a:pPr>
            <a:r>
              <a:t>Manage pet, find services, track vaccinations and purchases</a:t>
            </a:r>
          </a:p>
        </p:txBody>
      </p:sp>
      <p:sp>
        <p:nvSpPr>
          <p:cNvPr id="9" name="Rounded Rectangle 8"/>
          <p:cNvSpPr/>
          <p:nvPr/>
        </p:nvSpPr>
        <p:spPr>
          <a:xfrm>
            <a:off x="4480560" y="1325880"/>
            <a:ext cx="3474720" cy="132588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Seller</a:t>
            </a:r>
          </a:p>
          <a:p>
            <a:pPr>
              <a:spcBef>
                <a:spcPts val="700"/>
              </a:spcBef>
              <a:defRPr sz="1200">
                <a:solidFill>
                  <a:srgbClr val="27313B"/>
                </a:solidFill>
                <a:latin typeface="Aptos"/>
              </a:defRPr>
            </a:pPr>
            <a:r>
              <a:t>Publish verified listings, message buyers and receive provider-held payment</a:t>
            </a:r>
          </a:p>
        </p:txBody>
      </p:sp>
      <p:sp>
        <p:nvSpPr>
          <p:cNvPr id="10" name="Rounded Rectangle 9"/>
          <p:cNvSpPr/>
          <p:nvPr/>
        </p:nvSpPr>
        <p:spPr>
          <a:xfrm>
            <a:off x="8275320" y="1325880"/>
            <a:ext cx="3474720" cy="132588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Pet sitter</a:t>
            </a:r>
          </a:p>
          <a:p>
            <a:pPr>
              <a:spcBef>
                <a:spcPts val="700"/>
              </a:spcBef>
              <a:defRPr sz="1200">
                <a:solidFill>
                  <a:srgbClr val="27313B"/>
                </a:solidFill>
                <a:latin typeface="Aptos"/>
              </a:defRPr>
            </a:pPr>
            <a:r>
              <a:t>Set availability, accept bookings, post check-ins and earn ratings</a:t>
            </a:r>
          </a:p>
        </p:txBody>
      </p:sp>
      <p:sp>
        <p:nvSpPr>
          <p:cNvPr id="11" name="Rounded Rectangle 10"/>
          <p:cNvSpPr/>
          <p:nvPr/>
        </p:nvSpPr>
        <p:spPr>
          <a:xfrm>
            <a:off x="685800" y="3017520"/>
            <a:ext cx="3474720" cy="132588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Veterinarian</a:t>
            </a:r>
          </a:p>
          <a:p>
            <a:pPr>
              <a:spcBef>
                <a:spcPts val="700"/>
              </a:spcBef>
              <a:defRPr sz="1200">
                <a:solidFill>
                  <a:srgbClr val="27313B"/>
                </a:solidFill>
                <a:latin typeface="Aptos"/>
              </a:defRPr>
            </a:pPr>
            <a:r>
              <a:t>Prove licence, set slots, consult and update records</a:t>
            </a:r>
          </a:p>
        </p:txBody>
      </p:sp>
      <p:sp>
        <p:nvSpPr>
          <p:cNvPr id="12" name="Rounded Rectangle 11"/>
          <p:cNvSpPr/>
          <p:nvPr/>
        </p:nvSpPr>
        <p:spPr>
          <a:xfrm>
            <a:off x="4480560" y="3017520"/>
            <a:ext cx="3474720" cy="132588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Product vendor</a:t>
            </a:r>
          </a:p>
          <a:p>
            <a:pPr>
              <a:spcBef>
                <a:spcPts val="700"/>
              </a:spcBef>
              <a:defRPr sz="1200">
                <a:solidFill>
                  <a:srgbClr val="27313B"/>
                </a:solidFill>
                <a:latin typeface="Aptos"/>
              </a:defRPr>
            </a:pPr>
            <a:r>
              <a:t>Manage catalogue/inventory and fulfil orders</a:t>
            </a:r>
          </a:p>
        </p:txBody>
      </p:sp>
      <p:sp>
        <p:nvSpPr>
          <p:cNvPr id="13" name="Rounded Rectangle 12"/>
          <p:cNvSpPr/>
          <p:nvPr/>
        </p:nvSpPr>
        <p:spPr>
          <a:xfrm>
            <a:off x="8275320" y="3017520"/>
            <a:ext cx="3474720" cy="132588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Platform admin</a:t>
            </a:r>
          </a:p>
          <a:p>
            <a:pPr>
              <a:spcBef>
                <a:spcPts val="700"/>
              </a:spcBef>
              <a:defRPr sz="1200">
                <a:solidFill>
                  <a:srgbClr val="27313B"/>
                </a:solidFill>
                <a:latin typeface="Aptos"/>
              </a:defRPr>
            </a:pPr>
            <a:r>
              <a:t>Review verification, moderate listings and resolve disputes</a:t>
            </a:r>
          </a:p>
        </p:txBody>
      </p:sp>
      <p:sp>
        <p:nvSpPr>
          <p:cNvPr id="14" name="TextBox 13"/>
          <p:cNvSpPr txBox="1"/>
          <p:nvPr/>
        </p:nvSpPr>
        <p:spPr>
          <a:xfrm>
            <a:off x="868680" y="5074920"/>
            <a:ext cx="10424160" cy="731520"/>
          </a:xfrm>
          <a:prstGeom prst="rect">
            <a:avLst/>
          </a:prstGeom>
          <a:noFill/>
        </p:spPr>
        <p:txBody>
          <a:bodyPr wrap="square" lIns="36576" tIns="27432" rIns="36576" bIns="18288">
            <a:spAutoFit/>
          </a:bodyPr>
          <a:lstStyle/>
          <a:p>
            <a:pPr>
              <a:defRPr sz="1600" b="1">
                <a:solidFill>
                  <a:srgbClr val="14304C"/>
                </a:solidFill>
                <a:latin typeface="Aptos"/>
              </a:defRPr>
            </a:pPr>
            <a:r>
              <a:t>Example journey: Register &amp; verify → seller lists pet → admin moderates → buyer searches/messages → payment provider holds funds → handover confirmed → pet profile and vet booking.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Requirements analysis: functional vs non-functional</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Functional = what the system does | Non-functional = how well and safely it does it</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8</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8</a:t>
            </a:r>
          </a:p>
        </p:txBody>
      </p:sp>
      <p:sp>
        <p:nvSpPr>
          <p:cNvPr id="8" name="Rounded Rectangle 7"/>
          <p:cNvSpPr/>
          <p:nvPr/>
        </p:nvSpPr>
        <p:spPr>
          <a:xfrm>
            <a:off x="685800" y="1417320"/>
            <a:ext cx="5349240" cy="434340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t>FUNCTIONAL REQUIREMENTS (FRs)</a:t>
            </a:r>
          </a:p>
          <a:p>
            <a:pPr>
              <a:spcBef>
                <a:spcPts val="700"/>
              </a:spcBef>
              <a:defRPr sz="1500">
                <a:solidFill>
                  <a:srgbClr val="27313B"/>
                </a:solidFill>
                <a:latin typeface="Aptos"/>
              </a:defRPr>
            </a:pPr>
            <a:r>
              <a:t>• Register and verify users; apply roles</a:t>
            </a:r>
            <a:br/>
            <a:r>
              <a:t>• Create pet profiles and vaccination records</a:t>
            </a:r>
            <a:br/>
            <a:r>
              <a:t>• Search/filter listings, message and report</a:t>
            </a:r>
            <a:br/>
            <a:r>
              <a:t>• Book sitters and veterinarians</a:t>
            </a:r>
            <a:br/>
            <a:r>
              <a:t>• Manage products, cart, checkout and tracking</a:t>
            </a:r>
            <a:br/>
            <a:r>
              <a:t>• Moderate listings; handle refunds/disputes</a:t>
            </a:r>
            <a:br/>
            <a:r>
              <a:t>• Send reminders and provide AI decision support</a:t>
            </a:r>
          </a:p>
        </p:txBody>
      </p:sp>
      <p:sp>
        <p:nvSpPr>
          <p:cNvPr id="9" name="Rounded Rectangle 8"/>
          <p:cNvSpPr/>
          <p:nvPr/>
        </p:nvSpPr>
        <p:spPr>
          <a:xfrm>
            <a:off x="6217920" y="1417320"/>
            <a:ext cx="5257800" cy="434340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700" b="1">
                <a:solidFill>
                  <a:srgbClr val="14304C"/>
                </a:solidFill>
                <a:latin typeface="Aptos Display"/>
              </a:defRPr>
            </a:pPr>
            <a:r>
              <a:rPr dirty="0"/>
              <a:t>NON-FUNCTIONAL REQUIREMENTS (NFRs)</a:t>
            </a:r>
          </a:p>
          <a:p>
            <a:pPr>
              <a:spcBef>
                <a:spcPts val="700"/>
              </a:spcBef>
              <a:defRPr sz="1400">
                <a:solidFill>
                  <a:srgbClr val="27313B"/>
                </a:solidFill>
                <a:latin typeface="Aptos"/>
              </a:defRPr>
            </a:pPr>
            <a:r>
              <a:rPr dirty="0"/>
              <a:t>• Performance</a:t>
            </a:r>
            <a:br>
              <a:rPr dirty="0"/>
            </a:br>
            <a:r>
              <a:rPr dirty="0"/>
              <a:t>• AI response</a:t>
            </a:r>
            <a:br>
              <a:rPr dirty="0"/>
            </a:br>
            <a:r>
              <a:rPr dirty="0"/>
              <a:t>• Security</a:t>
            </a:r>
            <a:br>
              <a:rPr dirty="0"/>
            </a:br>
            <a:r>
              <a:rPr dirty="0"/>
              <a:t>• Privacy</a:t>
            </a:r>
            <a:br>
              <a:rPr dirty="0"/>
            </a:br>
            <a:r>
              <a:rPr dirty="0"/>
              <a:t>• Reliability</a:t>
            </a:r>
            <a:br>
              <a:rPr dirty="0"/>
            </a:br>
            <a:r>
              <a:rPr dirty="0"/>
              <a:t>• Usability</a:t>
            </a:r>
            <a:br>
              <a:rPr dirty="0"/>
            </a:br>
            <a:r>
              <a:rPr dirty="0"/>
              <a:t>• Quality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Product backlog: 11 epics, 29 user stories</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12</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12</a:t>
            </a:r>
          </a:p>
        </p:txBody>
      </p:sp>
      <p:sp>
        <p:nvSpPr>
          <p:cNvPr id="8" name="Rounded Rectangle 7"/>
          <p:cNvSpPr/>
          <p:nvPr/>
        </p:nvSpPr>
        <p:spPr>
          <a:xfrm>
            <a:off x="548640" y="1234440"/>
            <a:ext cx="2651760" cy="123444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1. Identity, Auth &amp; Verified Onboarding</a:t>
            </a:r>
          </a:p>
          <a:p>
            <a:pPr>
              <a:spcBef>
                <a:spcPts val="700"/>
              </a:spcBef>
              <a:defRPr sz="1100">
                <a:solidFill>
                  <a:srgbClr val="27313B"/>
                </a:solidFill>
                <a:latin typeface="Aptos"/>
              </a:defRPr>
            </a:pPr>
            <a:r>
              <a:t>4 stories</a:t>
            </a:r>
          </a:p>
        </p:txBody>
      </p:sp>
      <p:sp>
        <p:nvSpPr>
          <p:cNvPr id="9" name="Rounded Rectangle 8"/>
          <p:cNvSpPr/>
          <p:nvPr/>
        </p:nvSpPr>
        <p:spPr>
          <a:xfrm>
            <a:off x="3456432" y="1234440"/>
            <a:ext cx="2651760" cy="123444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2. Unified Pet Profile &amp; Health Records</a:t>
            </a:r>
          </a:p>
          <a:p>
            <a:pPr>
              <a:spcBef>
                <a:spcPts val="700"/>
              </a:spcBef>
              <a:defRPr sz="1100">
                <a:solidFill>
                  <a:srgbClr val="27313B"/>
                </a:solidFill>
                <a:latin typeface="Aptos"/>
              </a:defRPr>
            </a:pPr>
            <a:r>
              <a:t>3 stories</a:t>
            </a:r>
          </a:p>
        </p:txBody>
      </p:sp>
      <p:sp>
        <p:nvSpPr>
          <p:cNvPr id="10" name="Rounded Rectangle 9"/>
          <p:cNvSpPr/>
          <p:nvPr/>
        </p:nvSpPr>
        <p:spPr>
          <a:xfrm>
            <a:off x="6364224" y="1234440"/>
            <a:ext cx="2651760" cy="123444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3. Pet Marketplace (Buy/Sell)</a:t>
            </a:r>
          </a:p>
          <a:p>
            <a:pPr>
              <a:spcBef>
                <a:spcPts val="700"/>
              </a:spcBef>
              <a:defRPr sz="1100">
                <a:solidFill>
                  <a:srgbClr val="27313B"/>
                </a:solidFill>
                <a:latin typeface="Aptos"/>
              </a:defRPr>
            </a:pPr>
            <a:r>
              <a:t>4 stories</a:t>
            </a:r>
          </a:p>
        </p:txBody>
      </p:sp>
      <p:sp>
        <p:nvSpPr>
          <p:cNvPr id="11" name="Rounded Rectangle 10"/>
          <p:cNvSpPr/>
          <p:nvPr/>
        </p:nvSpPr>
        <p:spPr>
          <a:xfrm>
            <a:off x="9272016" y="1234440"/>
            <a:ext cx="2651760" cy="123444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4. Pet Sitting / Boarding</a:t>
            </a:r>
          </a:p>
          <a:p>
            <a:pPr>
              <a:spcBef>
                <a:spcPts val="700"/>
              </a:spcBef>
              <a:defRPr sz="1100">
                <a:solidFill>
                  <a:srgbClr val="27313B"/>
                </a:solidFill>
                <a:latin typeface="Aptos"/>
              </a:defRPr>
            </a:pPr>
            <a:r>
              <a:t>3 stories</a:t>
            </a:r>
          </a:p>
        </p:txBody>
      </p:sp>
      <p:sp>
        <p:nvSpPr>
          <p:cNvPr id="12" name="Rounded Rectangle 11"/>
          <p:cNvSpPr/>
          <p:nvPr/>
        </p:nvSpPr>
        <p:spPr>
          <a:xfrm>
            <a:off x="548640" y="2743200"/>
            <a:ext cx="2651760" cy="123444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5. Veterinary Care &amp; Health Records</a:t>
            </a:r>
          </a:p>
          <a:p>
            <a:pPr>
              <a:spcBef>
                <a:spcPts val="700"/>
              </a:spcBef>
              <a:defRPr sz="1100">
                <a:solidFill>
                  <a:srgbClr val="27313B"/>
                </a:solidFill>
                <a:latin typeface="Aptos"/>
              </a:defRPr>
            </a:pPr>
            <a:r>
              <a:t>4 stories</a:t>
            </a:r>
          </a:p>
        </p:txBody>
      </p:sp>
      <p:sp>
        <p:nvSpPr>
          <p:cNvPr id="13" name="Rounded Rectangle 12"/>
          <p:cNvSpPr/>
          <p:nvPr/>
        </p:nvSpPr>
        <p:spPr>
          <a:xfrm>
            <a:off x="3456432" y="2743200"/>
            <a:ext cx="2651760" cy="123444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6. Food &amp; Accessories Commerce</a:t>
            </a:r>
          </a:p>
          <a:p>
            <a:pPr>
              <a:spcBef>
                <a:spcPts val="700"/>
              </a:spcBef>
              <a:defRPr sz="1100">
                <a:solidFill>
                  <a:srgbClr val="27313B"/>
                </a:solidFill>
                <a:latin typeface="Aptos"/>
              </a:defRPr>
            </a:pPr>
            <a:r>
              <a:t>3 stories</a:t>
            </a:r>
          </a:p>
        </p:txBody>
      </p:sp>
      <p:sp>
        <p:nvSpPr>
          <p:cNvPr id="14" name="Rounded Rectangle 13"/>
          <p:cNvSpPr/>
          <p:nvPr/>
        </p:nvSpPr>
        <p:spPr>
          <a:xfrm>
            <a:off x="6364224" y="2743200"/>
            <a:ext cx="2651760" cy="123444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7. Trust, Payment &amp; Moderation</a:t>
            </a:r>
          </a:p>
          <a:p>
            <a:pPr>
              <a:spcBef>
                <a:spcPts val="700"/>
              </a:spcBef>
              <a:defRPr sz="1100">
                <a:solidFill>
                  <a:srgbClr val="27313B"/>
                </a:solidFill>
                <a:latin typeface="Aptos"/>
              </a:defRPr>
            </a:pPr>
            <a:r>
              <a:t>3 stories</a:t>
            </a:r>
          </a:p>
        </p:txBody>
      </p:sp>
      <p:sp>
        <p:nvSpPr>
          <p:cNvPr id="15" name="Rounded Rectangle 14"/>
          <p:cNvSpPr/>
          <p:nvPr/>
        </p:nvSpPr>
        <p:spPr>
          <a:xfrm>
            <a:off x="9272016" y="2743200"/>
            <a:ext cx="2651760" cy="123444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8. AI Recommendation &amp; Discovery</a:t>
            </a:r>
          </a:p>
          <a:p>
            <a:pPr>
              <a:spcBef>
                <a:spcPts val="700"/>
              </a:spcBef>
              <a:defRPr sz="1100">
                <a:solidFill>
                  <a:srgbClr val="27313B"/>
                </a:solidFill>
                <a:latin typeface="Aptos"/>
              </a:defRPr>
            </a:pPr>
            <a:r>
              <a:t>1 story</a:t>
            </a:r>
          </a:p>
        </p:txBody>
      </p:sp>
      <p:sp>
        <p:nvSpPr>
          <p:cNvPr id="16" name="Rounded Rectangle 15"/>
          <p:cNvSpPr/>
          <p:nvPr/>
        </p:nvSpPr>
        <p:spPr>
          <a:xfrm>
            <a:off x="548640" y="4251960"/>
            <a:ext cx="2651760" cy="123444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9. AI Support &amp; Vet Triage</a:t>
            </a:r>
          </a:p>
          <a:p>
            <a:pPr>
              <a:spcBef>
                <a:spcPts val="700"/>
              </a:spcBef>
              <a:defRPr sz="1100">
                <a:solidFill>
                  <a:srgbClr val="27313B"/>
                </a:solidFill>
                <a:latin typeface="Aptos"/>
              </a:defRPr>
            </a:pPr>
            <a:r>
              <a:t>2 stories</a:t>
            </a:r>
          </a:p>
        </p:txBody>
      </p:sp>
      <p:sp>
        <p:nvSpPr>
          <p:cNvPr id="17" name="Rounded Rectangle 16"/>
          <p:cNvSpPr/>
          <p:nvPr/>
        </p:nvSpPr>
        <p:spPr>
          <a:xfrm>
            <a:off x="3456432" y="4251960"/>
            <a:ext cx="2651760" cy="123444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10. Notifications &amp; Reminders</a:t>
            </a:r>
          </a:p>
          <a:p>
            <a:pPr>
              <a:spcBef>
                <a:spcPts val="700"/>
              </a:spcBef>
              <a:defRPr sz="1100">
                <a:solidFill>
                  <a:srgbClr val="27313B"/>
                </a:solidFill>
                <a:latin typeface="Aptos"/>
              </a:defRPr>
            </a:pPr>
            <a:r>
              <a:t>1 story</a:t>
            </a:r>
          </a:p>
        </p:txBody>
      </p:sp>
      <p:sp>
        <p:nvSpPr>
          <p:cNvPr id="18" name="Rounded Rectangle 17"/>
          <p:cNvSpPr/>
          <p:nvPr/>
        </p:nvSpPr>
        <p:spPr>
          <a:xfrm>
            <a:off x="6364224" y="4251960"/>
            <a:ext cx="2651760" cy="123444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200" b="1">
                <a:solidFill>
                  <a:srgbClr val="14304C"/>
                </a:solidFill>
                <a:latin typeface="Aptos Display"/>
              </a:defRPr>
            </a:pPr>
            <a:r>
              <a:t>11. Admin Dashboard &amp; Analytics</a:t>
            </a:r>
          </a:p>
          <a:p>
            <a:pPr>
              <a:spcBef>
                <a:spcPts val="700"/>
              </a:spcBef>
              <a:defRPr sz="1100">
                <a:solidFill>
                  <a:srgbClr val="27313B"/>
                </a:solidFill>
                <a:latin typeface="Aptos"/>
              </a:defRPr>
            </a:pPr>
            <a:r>
              <a:t>1 story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Prototype &amp; demonstration plan</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13</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13</a:t>
            </a:r>
          </a:p>
        </p:txBody>
      </p:sp>
      <p:sp>
        <p:nvSpPr>
          <p:cNvPr id="8" name="Rounded Rectangle 7"/>
          <p:cNvSpPr/>
          <p:nvPr/>
        </p:nvSpPr>
        <p:spPr>
          <a:xfrm>
            <a:off x="658368" y="1554480"/>
            <a:ext cx="2084831" cy="256032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400" b="1">
                <a:solidFill>
                  <a:srgbClr val="14304C"/>
                </a:solidFill>
                <a:latin typeface="Aptos Display"/>
              </a:defRPr>
            </a:pPr>
            <a:r>
              <a:t>1. Pet profile</a:t>
            </a:r>
          </a:p>
          <a:p>
            <a:pPr>
              <a:spcBef>
                <a:spcPts val="700"/>
              </a:spcBef>
              <a:defRPr sz="1200">
                <a:solidFill>
                  <a:srgbClr val="27313B"/>
                </a:solidFill>
                <a:latin typeface="Aptos"/>
              </a:defRPr>
            </a:pPr>
            <a:r>
              <a:t>Owner creates profile and adds vaccination with next-due badge</a:t>
            </a:r>
          </a:p>
        </p:txBody>
      </p:sp>
      <p:sp>
        <p:nvSpPr>
          <p:cNvPr id="9" name="Rounded Rectangle 8"/>
          <p:cNvSpPr/>
          <p:nvPr/>
        </p:nvSpPr>
        <p:spPr>
          <a:xfrm>
            <a:off x="2962656" y="1554480"/>
            <a:ext cx="2084831" cy="256032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400" b="1">
                <a:solidFill>
                  <a:srgbClr val="14304C"/>
                </a:solidFill>
                <a:latin typeface="Aptos Display"/>
              </a:defRPr>
            </a:pPr>
            <a:r>
              <a:t>2. Marketplace</a:t>
            </a:r>
          </a:p>
          <a:p>
            <a:pPr>
              <a:spcBef>
                <a:spcPts val="700"/>
              </a:spcBef>
              <a:defRPr sz="1200">
                <a:solidFill>
                  <a:srgbClr val="27313B"/>
                </a:solidFill>
                <a:latin typeface="Aptos"/>
              </a:defRPr>
            </a:pPr>
            <a:r>
              <a:t>Seller lists pet; buyer searches/messages; payment provider sandbox/mock holds funds</a:t>
            </a:r>
          </a:p>
        </p:txBody>
      </p:sp>
      <p:sp>
        <p:nvSpPr>
          <p:cNvPr id="10" name="Rounded Rectangle 9"/>
          <p:cNvSpPr/>
          <p:nvPr/>
        </p:nvSpPr>
        <p:spPr>
          <a:xfrm>
            <a:off x="5266944" y="1554480"/>
            <a:ext cx="2084831" cy="256032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400" b="1">
                <a:solidFill>
                  <a:srgbClr val="14304C"/>
                </a:solidFill>
                <a:latin typeface="Aptos Display"/>
              </a:defRPr>
            </a:pPr>
            <a:r>
              <a:t>3. Vet care</a:t>
            </a:r>
          </a:p>
          <a:p>
            <a:pPr>
              <a:spcBef>
                <a:spcPts val="700"/>
              </a:spcBef>
              <a:defRPr sz="1200">
                <a:solidFill>
                  <a:srgbClr val="27313B"/>
                </a:solidFill>
                <a:latin typeface="Aptos"/>
              </a:defRPr>
            </a:pPr>
            <a:r>
              <a:t>Owner books licensed vet slot; consultation note is saved to pet record</a:t>
            </a:r>
          </a:p>
        </p:txBody>
      </p:sp>
      <p:sp>
        <p:nvSpPr>
          <p:cNvPr id="11" name="Rounded Rectangle 10"/>
          <p:cNvSpPr/>
          <p:nvPr/>
        </p:nvSpPr>
        <p:spPr>
          <a:xfrm>
            <a:off x="7571232" y="1554480"/>
            <a:ext cx="2084831" cy="256032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400" b="1">
                <a:solidFill>
                  <a:srgbClr val="14304C"/>
                </a:solidFill>
                <a:latin typeface="Aptos Display"/>
              </a:defRPr>
            </a:pPr>
            <a:r>
              <a:t>4. Pet sitting</a:t>
            </a:r>
          </a:p>
          <a:p>
            <a:pPr>
              <a:spcBef>
                <a:spcPts val="700"/>
              </a:spcBef>
              <a:defRPr sz="1200">
                <a:solidFill>
                  <a:srgbClr val="27313B"/>
                </a:solidFill>
                <a:latin typeface="Aptos"/>
              </a:defRPr>
            </a:pPr>
            <a:r>
              <a:t>Owner books sitter with care instructions and emergency contact</a:t>
            </a:r>
          </a:p>
        </p:txBody>
      </p:sp>
      <p:sp>
        <p:nvSpPr>
          <p:cNvPr id="12" name="Rounded Rectangle 11"/>
          <p:cNvSpPr/>
          <p:nvPr/>
        </p:nvSpPr>
        <p:spPr>
          <a:xfrm>
            <a:off x="9875520" y="1554480"/>
            <a:ext cx="2084831" cy="256032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400" b="1">
                <a:solidFill>
                  <a:srgbClr val="14304C"/>
                </a:solidFill>
                <a:latin typeface="Aptos Display"/>
              </a:defRPr>
            </a:pPr>
            <a:r>
              <a:t>5. AI triage</a:t>
            </a:r>
          </a:p>
          <a:p>
            <a:pPr>
              <a:spcBef>
                <a:spcPts val="700"/>
              </a:spcBef>
              <a:defRPr sz="1200">
                <a:solidFill>
                  <a:srgbClr val="27313B"/>
                </a:solidFill>
                <a:latin typeface="Aptos"/>
              </a:defRPr>
            </a:pPr>
            <a:r>
              <a:t>Red-flag symptom routes to emergency care without diagnosis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Solution architecture &amp; technology</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Layered, modular architecture with replaceable provider adapters</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14</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14</a:t>
            </a:r>
          </a:p>
        </p:txBody>
      </p:sp>
      <p:sp>
        <p:nvSpPr>
          <p:cNvPr id="8" name="Rounded Rectangle 7"/>
          <p:cNvSpPr/>
          <p:nvPr/>
        </p:nvSpPr>
        <p:spPr>
          <a:xfrm>
            <a:off x="914400" y="1188720"/>
            <a:ext cx="10332720" cy="749808"/>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EXPERIENCE</a:t>
            </a:r>
          </a:p>
          <a:p>
            <a:pPr>
              <a:spcBef>
                <a:spcPts val="700"/>
              </a:spcBef>
              <a:defRPr sz="1100">
                <a:solidFill>
                  <a:srgbClr val="27313B"/>
                </a:solidFill>
                <a:latin typeface="Aptos"/>
              </a:defRPr>
            </a:pPr>
            <a:r>
              <a:t>Flutter mobile app • Vet portal • Vendor portal • Admin dashboard</a:t>
            </a:r>
          </a:p>
        </p:txBody>
      </p:sp>
      <p:sp>
        <p:nvSpPr>
          <p:cNvPr id="9" name="Rounded Rectangle 8"/>
          <p:cNvSpPr/>
          <p:nvPr/>
        </p:nvSpPr>
        <p:spPr>
          <a:xfrm>
            <a:off x="914400" y="2121408"/>
            <a:ext cx="10332720" cy="749808"/>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API &amp; SECURITY</a:t>
            </a:r>
          </a:p>
          <a:p>
            <a:pPr>
              <a:spcBef>
                <a:spcPts val="700"/>
              </a:spcBef>
              <a:defRPr sz="1100">
                <a:solidFill>
                  <a:srgbClr val="27313B"/>
                </a:solidFill>
                <a:latin typeface="Aptos"/>
              </a:defRPr>
            </a:pPr>
            <a:r>
              <a:t>REST API • Authentication/RBAC • Rate limiting • Audit logging • Notifications</a:t>
            </a:r>
          </a:p>
        </p:txBody>
      </p:sp>
      <p:sp>
        <p:nvSpPr>
          <p:cNvPr id="10" name="Rounded Rectangle 9"/>
          <p:cNvSpPr/>
          <p:nvPr/>
        </p:nvSpPr>
        <p:spPr>
          <a:xfrm>
            <a:off x="914400" y="3054096"/>
            <a:ext cx="10332720" cy="749808"/>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CORE DOMAIN SERVICES</a:t>
            </a:r>
          </a:p>
          <a:p>
            <a:pPr>
              <a:spcBef>
                <a:spcPts val="700"/>
              </a:spcBef>
              <a:defRPr sz="1100">
                <a:solidFill>
                  <a:srgbClr val="27313B"/>
                </a:solidFill>
                <a:latin typeface="Aptos"/>
              </a:defRPr>
            </a:pPr>
            <a:r>
              <a:t>Pet profile &amp; health • Marketplace • Sitting/booking • Vet care/video • Commerce • Payments</a:t>
            </a:r>
          </a:p>
        </p:txBody>
      </p:sp>
      <p:sp>
        <p:nvSpPr>
          <p:cNvPr id="11" name="Rounded Rectangle 10"/>
          <p:cNvSpPr/>
          <p:nvPr/>
        </p:nvSpPr>
        <p:spPr>
          <a:xfrm>
            <a:off x="914400" y="3986784"/>
            <a:ext cx="10332720" cy="749808"/>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ISOLATED AI SERVICES</a:t>
            </a:r>
          </a:p>
          <a:p>
            <a:pPr>
              <a:spcBef>
                <a:spcPts val="700"/>
              </a:spcBef>
              <a:defRPr sz="1100">
                <a:solidFill>
                  <a:srgbClr val="27313B"/>
                </a:solidFill>
                <a:latin typeface="Aptos"/>
              </a:defRPr>
            </a:pPr>
            <a:r>
              <a:t>Recommendation • RAG support/triage assistant • Analytics • Safe fallback</a:t>
            </a:r>
          </a:p>
        </p:txBody>
      </p:sp>
      <p:sp>
        <p:nvSpPr>
          <p:cNvPr id="12" name="Rounded Rectangle 11"/>
          <p:cNvSpPr/>
          <p:nvPr/>
        </p:nvSpPr>
        <p:spPr>
          <a:xfrm>
            <a:off x="914400" y="4919472"/>
            <a:ext cx="10332720" cy="749808"/>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DATA &amp; EXTERNAL ADAPTERS</a:t>
            </a:r>
          </a:p>
          <a:p>
            <a:pPr>
              <a:spcBef>
                <a:spcPts val="700"/>
              </a:spcBef>
              <a:defRPr sz="1100">
                <a:solidFill>
                  <a:srgbClr val="27313B"/>
                </a:solidFill>
                <a:latin typeface="Aptos"/>
              </a:defRPr>
            </a:pPr>
            <a:r>
              <a:t>PostgreSQL • Redis • Object storage • Payment/KYC/video adapters • Maps • SMS/email</a:t>
            </a:r>
          </a:p>
        </p:txBody>
      </p:sp>
      <p:sp>
        <p:nvSpPr>
          <p:cNvPr id="13" name="TextBox 12"/>
          <p:cNvSpPr txBox="1"/>
          <p:nvPr/>
        </p:nvSpPr>
        <p:spPr>
          <a:xfrm>
            <a:off x="914400" y="5989320"/>
            <a:ext cx="10332720" cy="228600"/>
          </a:xfrm>
          <a:prstGeom prst="rect">
            <a:avLst/>
          </a:prstGeom>
          <a:noFill/>
        </p:spPr>
        <p:txBody>
          <a:bodyPr wrap="square" lIns="36576" tIns="27432" rIns="36576" bIns="18288">
            <a:spAutoFit/>
          </a:bodyPr>
          <a:lstStyle/>
          <a:p>
            <a:pPr algn="ctr">
              <a:defRPr sz="1000" b="0">
                <a:solidFill>
                  <a:srgbClr val="616F7B"/>
                </a:solidFill>
                <a:latin typeface="Aptos"/>
              </a:defRPr>
            </a:pPr>
            <a:r>
              <a:t>Proposed technology choices: Flutter • Node.js/NestJS-style REST API • PostgreSQL • Python/FastAPI • commercial video SDK • approved payment/KYC provider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Responsible AI: decision support, not authority</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Targets in the plan require offline evaluation and veterinary review</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15</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15</a:t>
            </a:r>
          </a:p>
        </p:txBody>
      </p:sp>
      <p:sp>
        <p:nvSpPr>
          <p:cNvPr id="8" name="Rounded Rectangle 7"/>
          <p:cNvSpPr/>
          <p:nvPr/>
        </p:nvSpPr>
        <p:spPr>
          <a:xfrm>
            <a:off x="685800" y="1508760"/>
            <a:ext cx="3474720" cy="301752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PERSONALISED DISCOVERY</a:t>
            </a:r>
          </a:p>
          <a:p>
            <a:pPr>
              <a:spcBef>
                <a:spcPts val="700"/>
              </a:spcBef>
              <a:defRPr sz="1400">
                <a:solidFill>
                  <a:srgbClr val="27313B"/>
                </a:solidFill>
                <a:latin typeface="Aptos"/>
              </a:defRPr>
            </a:pPr>
            <a:r>
              <a:t>Rules + content-based similarity</a:t>
            </a:r>
            <a:br/>
            <a:r>
              <a:t>Target: Precision@5 ≥70% on curated test set; fallback to normal search.</a:t>
            </a:r>
          </a:p>
        </p:txBody>
      </p:sp>
      <p:sp>
        <p:nvSpPr>
          <p:cNvPr id="9" name="Rounded Rectangle 8"/>
          <p:cNvSpPr/>
          <p:nvPr/>
        </p:nvSpPr>
        <p:spPr>
          <a:xfrm>
            <a:off x="4480560" y="1508760"/>
            <a:ext cx="3474720" cy="301752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GROUNDED SUPPORT CHATBOT</a:t>
            </a:r>
          </a:p>
          <a:p>
            <a:pPr>
              <a:spcBef>
                <a:spcPts val="700"/>
              </a:spcBef>
              <a:defRPr sz="1400">
                <a:solidFill>
                  <a:srgbClr val="27313B"/>
                </a:solidFill>
                <a:latin typeface="Aptos"/>
              </a:defRPr>
            </a:pPr>
            <a:r>
              <a:t>RAG over reviewed knowledge</a:t>
            </a:r>
            <a:br/>
            <a:r>
              <a:t>Target: answers cite approved source; graceful fallback.</a:t>
            </a:r>
          </a:p>
        </p:txBody>
      </p:sp>
      <p:sp>
        <p:nvSpPr>
          <p:cNvPr id="10" name="Rounded Rectangle 9"/>
          <p:cNvSpPr/>
          <p:nvPr/>
        </p:nvSpPr>
        <p:spPr>
          <a:xfrm>
            <a:off x="8275320" y="1508760"/>
            <a:ext cx="3474720" cy="301752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VET TRIAGE &amp; ROUTING</a:t>
            </a:r>
          </a:p>
          <a:p>
            <a:pPr>
              <a:spcBef>
                <a:spcPts val="700"/>
              </a:spcBef>
              <a:defRPr sz="1400">
                <a:solidFill>
                  <a:srgbClr val="27313B"/>
                </a:solidFill>
                <a:latin typeface="Aptos"/>
              </a:defRPr>
            </a:pPr>
            <a:r>
              <a:t>Deterministic red-flag rules + RAG</a:t>
            </a:r>
            <a:br/>
            <a:r>
              <a:t>Target: ≥90% correct routing; zero diagnosis claims; human override.</a:t>
            </a:r>
          </a:p>
        </p:txBody>
      </p:sp>
      <p:sp>
        <p:nvSpPr>
          <p:cNvPr id="11" name="TextBox 10"/>
          <p:cNvSpPr txBox="1"/>
          <p:nvPr/>
        </p:nvSpPr>
        <p:spPr>
          <a:xfrm>
            <a:off x="914400" y="4892040"/>
            <a:ext cx="10241280" cy="1097280"/>
          </a:xfrm>
          <a:prstGeom prst="rect">
            <a:avLst/>
          </a:prstGeom>
          <a:noFill/>
        </p:spPr>
        <p:txBody>
          <a:bodyPr wrap="square" lIns="73152" rIns="73152">
            <a:spAutoFit/>
          </a:bodyPr>
          <a:lstStyle/>
          <a:p>
            <a:pPr>
              <a:spcAft>
                <a:spcPts val="600"/>
              </a:spcAft>
              <a:defRPr sz="1400">
                <a:solidFill>
                  <a:srgbClr val="27313B"/>
                </a:solidFill>
                <a:latin typeface="Aptos"/>
              </a:defRPr>
            </a:pPr>
            <a:r>
              <a:t>•  Vet-reviewed, version-controlled knowledge base</a:t>
            </a:r>
          </a:p>
          <a:p>
            <a:pPr>
              <a:spcAft>
                <a:spcPts val="600"/>
              </a:spcAft>
              <a:defRPr sz="1400">
                <a:solidFill>
                  <a:srgbClr val="27313B"/>
                </a:solidFill>
                <a:latin typeface="Aptos"/>
              </a:defRPr>
            </a:pPr>
            <a:r>
              <a:t>•  Red flags trigger escalation to licensed care</a:t>
            </a:r>
          </a:p>
          <a:p>
            <a:pPr>
              <a:spcAft>
                <a:spcPts val="600"/>
              </a:spcAft>
              <a:defRPr sz="1400">
                <a:solidFill>
                  <a:srgbClr val="27313B"/>
                </a:solidFill>
                <a:latin typeface="Aptos"/>
              </a:defRPr>
            </a:pPr>
            <a:r>
              <a:t>•  No AI-generated diagnosis, prescription or “medically safe” claim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Innovation &amp; problem-solving</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The differentiator is connected trust and continuity—not simply four features</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16</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16</a:t>
            </a:r>
          </a:p>
        </p:txBody>
      </p:sp>
      <p:sp>
        <p:nvSpPr>
          <p:cNvPr id="8" name="Rounded Rectangle 7"/>
          <p:cNvSpPr/>
          <p:nvPr/>
        </p:nvSpPr>
        <p:spPr>
          <a:xfrm>
            <a:off x="685800" y="1417320"/>
            <a:ext cx="3474720" cy="182880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ONE PET PROFILE</a:t>
            </a:r>
          </a:p>
          <a:p>
            <a:pPr>
              <a:spcBef>
                <a:spcPts val="700"/>
              </a:spcBef>
              <a:defRPr sz="1400">
                <a:solidFill>
                  <a:srgbClr val="27313B"/>
                </a:solidFill>
                <a:latin typeface="Aptos"/>
              </a:defRPr>
            </a:pPr>
            <a:r>
              <a:t>Health records, bookings and purchases stay connected.</a:t>
            </a:r>
          </a:p>
        </p:txBody>
      </p:sp>
      <p:sp>
        <p:nvSpPr>
          <p:cNvPr id="9" name="Rounded Rectangle 8"/>
          <p:cNvSpPr/>
          <p:nvPr/>
        </p:nvSpPr>
        <p:spPr>
          <a:xfrm>
            <a:off x="4343400" y="1417320"/>
            <a:ext cx="3474720" cy="182880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TRUST BUILT IN</a:t>
            </a:r>
          </a:p>
          <a:p>
            <a:pPr>
              <a:spcBef>
                <a:spcPts val="700"/>
              </a:spcBef>
              <a:defRPr sz="1400">
                <a:solidFill>
                  <a:srgbClr val="27313B"/>
                </a:solidFill>
                <a:latin typeface="Aptos"/>
              </a:defRPr>
            </a:pPr>
            <a:r>
              <a:t>Verified actors, licensed vets, protected-provider payments and audit trail.</a:t>
            </a:r>
          </a:p>
        </p:txBody>
      </p:sp>
      <p:sp>
        <p:nvSpPr>
          <p:cNvPr id="10" name="Rounded Rectangle 9"/>
          <p:cNvSpPr/>
          <p:nvPr/>
        </p:nvSpPr>
        <p:spPr>
          <a:xfrm>
            <a:off x="8001000" y="1417320"/>
            <a:ext cx="3474720" cy="182880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PROACTIVE HEALTH</a:t>
            </a:r>
          </a:p>
          <a:p>
            <a:pPr>
              <a:spcBef>
                <a:spcPts val="700"/>
              </a:spcBef>
              <a:defRPr sz="1400">
                <a:solidFill>
                  <a:srgbClr val="27313B"/>
                </a:solidFill>
                <a:latin typeface="Aptos"/>
              </a:defRPr>
            </a:pPr>
            <a:r>
              <a:t>Next-due vaccination reminders, not just passive record storage.</a:t>
            </a:r>
          </a:p>
        </p:txBody>
      </p:sp>
      <p:sp>
        <p:nvSpPr>
          <p:cNvPr id="11" name="Rounded Rectangle 10"/>
          <p:cNvSpPr/>
          <p:nvPr/>
        </p:nvSpPr>
        <p:spPr>
          <a:xfrm>
            <a:off x="685800" y="3611880"/>
            <a:ext cx="5303520" cy="1600200"/>
          </a:xfrm>
          <a:prstGeom prst="roundRect">
            <a:avLst/>
          </a:prstGeom>
          <a:solidFill>
            <a:srgbClr val="F6F8FA"/>
          </a:solidFill>
          <a:ln w="15240">
            <a:solidFill>
              <a:srgbClr val="D68B3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DELIVERY CHALLENGE</a:t>
            </a:r>
          </a:p>
          <a:p>
            <a:pPr>
              <a:spcBef>
                <a:spcPts val="700"/>
              </a:spcBef>
              <a:defRPr sz="1300">
                <a:solidFill>
                  <a:srgbClr val="27313B"/>
                </a:solidFill>
                <a:latin typeface="Aptos"/>
              </a:defRPr>
            </a:pPr>
            <a:r>
              <a:t>Four pillars are broad for one semester. Use MoSCoW, a controlled pilot and formal change control.</a:t>
            </a:r>
          </a:p>
        </p:txBody>
      </p:sp>
      <p:sp>
        <p:nvSpPr>
          <p:cNvPr id="12" name="Rounded Rectangle 11"/>
          <p:cNvSpPr/>
          <p:nvPr/>
        </p:nvSpPr>
        <p:spPr>
          <a:xfrm>
            <a:off x="6172200" y="3611880"/>
            <a:ext cx="5303520" cy="1600200"/>
          </a:xfrm>
          <a:prstGeom prst="roundRect">
            <a:avLst/>
          </a:prstGeom>
          <a:solidFill>
            <a:srgbClr val="F6F8FA"/>
          </a:solidFill>
          <a:ln w="15240">
            <a:solidFill>
              <a:srgbClr val="D68B3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RISK-BASED DESIGN</a:t>
            </a:r>
          </a:p>
          <a:p>
            <a:pPr>
              <a:spcBef>
                <a:spcPts val="700"/>
              </a:spcBef>
              <a:defRPr sz="1300">
                <a:solidFill>
                  <a:srgbClr val="27313B"/>
                </a:solidFill>
                <a:latin typeface="Aptos"/>
              </a:defRPr>
            </a:pPr>
            <a:r>
              <a:t>Provider adapters and mock/sandbox fallback; deterministic triage if AI is unsafe or unavailable.</a:t>
            </a:r>
          </a:p>
        </p:txBody>
      </p:sp>
      <p:sp>
        <p:nvSpPr>
          <p:cNvPr id="13" name="TextBox 12"/>
          <p:cNvSpPr txBox="1"/>
          <p:nvPr/>
        </p:nvSpPr>
        <p:spPr>
          <a:xfrm>
            <a:off x="822960" y="5669280"/>
            <a:ext cx="10515600" cy="320040"/>
          </a:xfrm>
          <a:prstGeom prst="rect">
            <a:avLst/>
          </a:prstGeom>
          <a:noFill/>
        </p:spPr>
        <p:txBody>
          <a:bodyPr wrap="square" lIns="36576" tIns="27432" rIns="36576" bIns="18288">
            <a:spAutoFit/>
          </a:bodyPr>
          <a:lstStyle/>
          <a:p>
            <a:pPr algn="ctr">
              <a:defRPr sz="1100" b="0">
                <a:solidFill>
                  <a:srgbClr val="616F7B"/>
                </a:solidFill>
                <a:latin typeface="Aptos"/>
              </a:defRPr>
            </a:pPr>
            <a:r>
              <a:t>Competitive claims in the source deck should be backed by dated desk research; avoid absolute claims without evidence.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8600" y="182880"/>
            <a:ext cx="11731752" cy="6492240"/>
          </a:xfrm>
          <a:prstGeom prst="roundRect">
            <a:avLst>
              <a:gd name="adj" fmla="val 1690"/>
            </a:avLst>
          </a:prstGeom>
          <a:solidFill>
            <a:srgbClr val="F7F1EA"/>
          </a:solidFill>
          <a:ln w="12700">
            <a:solidFill>
              <a:srgbClr val="E7DED3"/>
            </a:solidFill>
            <a:prstDash val="solid"/>
          </a:ln>
        </p:spPr>
      </p:sp>
      <p:sp>
        <p:nvSpPr>
          <p:cNvPr id="3" name="Text 1"/>
          <p:cNvSpPr txBox="1"/>
          <p:nvPr/>
        </p:nvSpPr>
        <p:spPr>
          <a:xfrm>
            <a:off x="457200" y="320040"/>
            <a:ext cx="11247120" cy="274320"/>
          </a:xfrm>
          <a:prstGeom prst="rect">
            <a:avLst/>
          </a:prstGeom>
          <a:noFill/>
          <a:ln/>
        </p:spPr>
        <p:txBody>
          <a:bodyPr wrap="square" lIns="0" tIns="0" rIns="0" bIns="0" rtlCol="0" anchor="ctr"/>
          <a:lstStyle/>
          <a:p>
            <a:pPr marL="0" indent="0" algn="ctr">
              <a:buNone/>
            </a:pPr>
            <a:r>
              <a:rPr lang="en-US" sz="1300" kern="0" spc="600" dirty="0">
                <a:solidFill>
                  <a:srgbClr val="5B6B7A"/>
                </a:solidFill>
                <a:latin typeface="Calibri" pitchFamily="34" charset="0"/>
                <a:ea typeface="Calibri" pitchFamily="34" charset="-122"/>
                <a:cs typeface="Calibri" pitchFamily="34" charset="-120"/>
              </a:rPr>
              <a:t>PRODUCT ROADMAP</a:t>
            </a:r>
            <a:endParaRPr lang="en-US" sz="1300" dirty="0"/>
          </a:p>
        </p:txBody>
      </p:sp>
      <p:sp>
        <p:nvSpPr>
          <p:cNvPr id="4" name="Text 2"/>
          <p:cNvSpPr txBox="1"/>
          <p:nvPr/>
        </p:nvSpPr>
        <p:spPr>
          <a:xfrm>
            <a:off x="457200" y="640080"/>
            <a:ext cx="11247120" cy="502920"/>
          </a:xfrm>
          <a:prstGeom prst="rect">
            <a:avLst/>
          </a:prstGeom>
          <a:noFill/>
          <a:ln/>
        </p:spPr>
        <p:txBody>
          <a:bodyPr wrap="square" lIns="0" tIns="0" rIns="0" bIns="0" rtlCol="0" anchor="ctr"/>
          <a:lstStyle/>
          <a:p>
            <a:pPr marL="0" indent="0" algn="ctr">
              <a:buNone/>
            </a:pPr>
            <a:r>
              <a:rPr lang="en-US" sz="2600" b="1" dirty="0">
                <a:solidFill>
                  <a:srgbClr val="222222"/>
                </a:solidFill>
                <a:latin typeface="Calibri" pitchFamily="34" charset="0"/>
                <a:ea typeface="Calibri" pitchFamily="34" charset="-122"/>
                <a:cs typeface="Calibri" pitchFamily="34" charset="-120"/>
              </a:rPr>
              <a:t>SIX STOPS FROM FOUNDATION TO GO-LIVE</a:t>
            </a:r>
            <a:endParaRPr lang="en-US" sz="2600" dirty="0"/>
          </a:p>
        </p:txBody>
      </p:sp>
      <p:pic>
        <p:nvPicPr>
          <p:cNvPr id="5" name="Image 0" descr="road.png"/>
          <p:cNvPicPr>
            <a:picLocks noChangeAspect="1"/>
          </p:cNvPicPr>
          <p:nvPr/>
        </p:nvPicPr>
        <p:blipFill>
          <a:blip r:embed="rId3"/>
          <a:stretch>
            <a:fillRect/>
          </a:stretch>
        </p:blipFill>
        <p:spPr>
          <a:xfrm>
            <a:off x="0" y="0"/>
            <a:ext cx="12191695" cy="6858000"/>
          </a:xfrm>
          <a:prstGeom prst="rect">
            <a:avLst/>
          </a:prstGeom>
        </p:spPr>
      </p:pic>
      <p:sp>
        <p:nvSpPr>
          <p:cNvPr id="6" name="Shape 3"/>
          <p:cNvSpPr/>
          <p:nvPr/>
        </p:nvSpPr>
        <p:spPr>
          <a:xfrm>
            <a:off x="1051560" y="1719072"/>
            <a:ext cx="1920240" cy="402336"/>
          </a:xfrm>
          <a:prstGeom prst="homePlate">
            <a:avLst/>
          </a:prstGeom>
          <a:solidFill>
            <a:srgbClr val="F7D154"/>
          </a:solidFill>
          <a:ln w="12700">
            <a:solidFill>
              <a:srgbClr val="F7D154"/>
            </a:solidFill>
            <a:prstDash val="solid"/>
          </a:ln>
        </p:spPr>
      </p:sp>
      <p:sp>
        <p:nvSpPr>
          <p:cNvPr id="7" name="Text 4"/>
          <p:cNvSpPr txBox="1"/>
          <p:nvPr/>
        </p:nvSpPr>
        <p:spPr>
          <a:xfrm>
            <a:off x="1051560" y="1719072"/>
            <a:ext cx="1783080" cy="402336"/>
          </a:xfrm>
          <a:prstGeom prst="rect">
            <a:avLst/>
          </a:prstGeom>
          <a:noFill/>
          <a:ln/>
        </p:spPr>
        <p:txBody>
          <a:bodyPr wrap="square" lIns="0" tIns="0" rIns="0" bIns="0" rtlCol="0" anchor="ctr"/>
          <a:lstStyle/>
          <a:p>
            <a:pPr marL="0" indent="0" algn="ctr">
              <a:buNone/>
            </a:pPr>
            <a:r>
              <a:rPr lang="en-US" sz="1300" b="1" dirty="0">
                <a:solidFill>
                  <a:srgbClr val="222222"/>
                </a:solidFill>
                <a:latin typeface="Calibri" pitchFamily="34" charset="0"/>
                <a:ea typeface="Calibri" pitchFamily="34" charset="-122"/>
                <a:cs typeface="Calibri" pitchFamily="34" charset="-120"/>
              </a:rPr>
              <a:t>FOUNDATION</a:t>
            </a:r>
            <a:endParaRPr lang="en-US" sz="1300" dirty="0"/>
          </a:p>
        </p:txBody>
      </p:sp>
      <p:sp>
        <p:nvSpPr>
          <p:cNvPr id="8" name="Shape 5"/>
          <p:cNvSpPr/>
          <p:nvPr/>
        </p:nvSpPr>
        <p:spPr>
          <a:xfrm>
            <a:off x="1783080" y="2286000"/>
            <a:ext cx="457200" cy="457200"/>
          </a:xfrm>
          <a:prstGeom prst="ellipse">
            <a:avLst/>
          </a:prstGeom>
          <a:solidFill>
            <a:srgbClr val="FFFFFF"/>
          </a:solidFill>
          <a:ln w="38100">
            <a:solidFill>
              <a:srgbClr val="F7D154"/>
            </a:solidFill>
            <a:prstDash val="solid"/>
          </a:ln>
        </p:spPr>
      </p:sp>
      <p:sp>
        <p:nvSpPr>
          <p:cNvPr id="9" name="Text 6"/>
          <p:cNvSpPr txBox="1"/>
          <p:nvPr/>
        </p:nvSpPr>
        <p:spPr>
          <a:xfrm>
            <a:off x="1783080" y="2286000"/>
            <a:ext cx="457200" cy="457200"/>
          </a:xfrm>
          <a:prstGeom prst="rect">
            <a:avLst/>
          </a:prstGeom>
          <a:noFill/>
          <a:ln/>
        </p:spPr>
        <p:txBody>
          <a:bodyPr wrap="square" lIns="0" tIns="0" rIns="0" bIns="0" rtlCol="0" anchor="ctr"/>
          <a:lstStyle/>
          <a:p>
            <a:pPr marL="0" indent="0" algn="ctr">
              <a:buNone/>
            </a:pPr>
            <a:r>
              <a:rPr lang="en-US" sz="1600" b="1" dirty="0">
                <a:solidFill>
                  <a:srgbClr val="222222"/>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411480" y="2770632"/>
            <a:ext cx="3200400" cy="822960"/>
          </a:xfrm>
          <a:prstGeom prst="rect">
            <a:avLst/>
          </a:prstGeom>
          <a:noFill/>
          <a:ln/>
        </p:spPr>
        <p:txBody>
          <a:bodyPr wrap="square" lIns="0" tIns="0" rIns="0" bIns="0" rtlCol="0" anchor="t"/>
          <a:lstStyle/>
          <a:p>
            <a:pPr marL="0" indent="0" algn="ctr">
              <a:buNone/>
            </a:pPr>
            <a:r>
              <a:rPr lang="en-US" sz="1200" b="1" dirty="0">
                <a:solidFill>
                  <a:srgbClr val="D9733B"/>
                </a:solidFill>
                <a:latin typeface="Calibri" pitchFamily="34" charset="0"/>
                <a:ea typeface="Calibri" pitchFamily="34" charset="-122"/>
                <a:cs typeface="Calibri" pitchFamily="34" charset="-120"/>
              </a:rPr>
              <a:t>M1-M3  </a:t>
            </a:r>
            <a:r>
              <a:rPr lang="en-US" sz="1200" b="1" dirty="0">
                <a:solidFill>
                  <a:srgbClr val="222222"/>
                </a:solidFill>
                <a:latin typeface="Calibri" pitchFamily="34" charset="0"/>
                <a:ea typeface="Calibri" pitchFamily="34" charset="-122"/>
                <a:cs typeface="Calibri" pitchFamily="34" charset="-120"/>
              </a:rPr>
              <a:t>Validated plan &amp; design</a:t>
            </a:r>
            <a:endParaRPr lang="en-US" sz="1200" dirty="0"/>
          </a:p>
          <a:p>
            <a:pPr marL="0" indent="0" algn="ctr">
              <a:buNone/>
            </a:pPr>
            <a:r>
              <a:rPr lang="en-US" sz="1050" dirty="0">
                <a:solidFill>
                  <a:srgbClr val="5B6B7A"/>
                </a:solidFill>
                <a:latin typeface="Calibri" pitchFamily="34" charset="0"/>
                <a:ea typeface="Calibri" pitchFamily="34" charset="-122"/>
                <a:cs typeface="Calibri" pitchFamily="34" charset="-120"/>
              </a:rPr>
              <a:t>Requirements baseline, UX prototype, architecture, cloud &amp; CI/CD base</a:t>
            </a:r>
            <a:endParaRPr lang="en-US" sz="1200" dirty="0"/>
          </a:p>
        </p:txBody>
      </p:sp>
      <p:sp>
        <p:nvSpPr>
          <p:cNvPr id="11" name="Shape 8"/>
          <p:cNvSpPr/>
          <p:nvPr/>
        </p:nvSpPr>
        <p:spPr>
          <a:xfrm>
            <a:off x="4251960" y="1719072"/>
            <a:ext cx="1920240" cy="402336"/>
          </a:xfrm>
          <a:prstGeom prst="homePlate">
            <a:avLst/>
          </a:prstGeom>
          <a:solidFill>
            <a:srgbClr val="F4A259"/>
          </a:solidFill>
          <a:ln w="12700">
            <a:solidFill>
              <a:srgbClr val="F4A259"/>
            </a:solidFill>
            <a:prstDash val="solid"/>
          </a:ln>
        </p:spPr>
      </p:sp>
      <p:sp>
        <p:nvSpPr>
          <p:cNvPr id="12" name="Text 9"/>
          <p:cNvSpPr txBox="1"/>
          <p:nvPr/>
        </p:nvSpPr>
        <p:spPr>
          <a:xfrm>
            <a:off x="4251960" y="1719072"/>
            <a:ext cx="1783080" cy="402336"/>
          </a:xfrm>
          <a:prstGeom prst="rect">
            <a:avLst/>
          </a:prstGeom>
          <a:noFill/>
          <a:ln/>
        </p:spPr>
        <p:txBody>
          <a:bodyPr wrap="square" lIns="0" tIns="0" rIns="0" bIns="0" rtlCol="0" anchor="ctr"/>
          <a:lstStyle/>
          <a:p>
            <a:pPr marL="0" indent="0" algn="ctr">
              <a:buNone/>
            </a:pPr>
            <a:r>
              <a:rPr lang="en-US" sz="1300" b="1" dirty="0">
                <a:solidFill>
                  <a:srgbClr val="222222"/>
                </a:solidFill>
                <a:latin typeface="Calibri" pitchFamily="34" charset="0"/>
                <a:ea typeface="Calibri" pitchFamily="34" charset="-122"/>
                <a:cs typeface="Calibri" pitchFamily="34" charset="-120"/>
              </a:rPr>
              <a:t>TRUST</a:t>
            </a:r>
            <a:endParaRPr lang="en-US" sz="1300" dirty="0"/>
          </a:p>
        </p:txBody>
      </p:sp>
      <p:sp>
        <p:nvSpPr>
          <p:cNvPr id="13" name="Shape 10"/>
          <p:cNvSpPr/>
          <p:nvPr/>
        </p:nvSpPr>
        <p:spPr>
          <a:xfrm>
            <a:off x="4983480" y="2286000"/>
            <a:ext cx="457200" cy="457200"/>
          </a:xfrm>
          <a:prstGeom prst="ellipse">
            <a:avLst/>
          </a:prstGeom>
          <a:solidFill>
            <a:srgbClr val="FFFFFF"/>
          </a:solidFill>
          <a:ln w="38100">
            <a:solidFill>
              <a:srgbClr val="F4A259"/>
            </a:solidFill>
            <a:prstDash val="solid"/>
          </a:ln>
        </p:spPr>
      </p:sp>
      <p:sp>
        <p:nvSpPr>
          <p:cNvPr id="14" name="Text 11"/>
          <p:cNvSpPr txBox="1"/>
          <p:nvPr/>
        </p:nvSpPr>
        <p:spPr>
          <a:xfrm>
            <a:off x="4983480" y="2286000"/>
            <a:ext cx="457200" cy="457200"/>
          </a:xfrm>
          <a:prstGeom prst="rect">
            <a:avLst/>
          </a:prstGeom>
          <a:noFill/>
          <a:ln/>
        </p:spPr>
        <p:txBody>
          <a:bodyPr wrap="square" lIns="0" tIns="0" rIns="0" bIns="0" rtlCol="0" anchor="ctr"/>
          <a:lstStyle/>
          <a:p>
            <a:pPr marL="0" indent="0" algn="ctr">
              <a:buNone/>
            </a:pPr>
            <a:r>
              <a:rPr lang="en-US" sz="1600" b="1" dirty="0">
                <a:solidFill>
                  <a:srgbClr val="222222"/>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3611880" y="2770632"/>
            <a:ext cx="3200400" cy="822960"/>
          </a:xfrm>
          <a:prstGeom prst="rect">
            <a:avLst/>
          </a:prstGeom>
          <a:noFill/>
          <a:ln/>
        </p:spPr>
        <p:txBody>
          <a:bodyPr wrap="square" lIns="0" tIns="0" rIns="0" bIns="0" rtlCol="0" anchor="t"/>
          <a:lstStyle/>
          <a:p>
            <a:pPr marL="0" indent="0" algn="ctr">
              <a:buNone/>
            </a:pPr>
            <a:r>
              <a:rPr lang="en-US" sz="1200" b="1" dirty="0">
                <a:solidFill>
                  <a:srgbClr val="D9733B"/>
                </a:solidFill>
                <a:latin typeface="Calibri" pitchFamily="34" charset="0"/>
                <a:ea typeface="Calibri" pitchFamily="34" charset="-122"/>
                <a:cs typeface="Calibri" pitchFamily="34" charset="-120"/>
              </a:rPr>
              <a:t>M3-M5  </a:t>
            </a:r>
            <a:r>
              <a:rPr lang="en-US" sz="1200" b="1" dirty="0">
                <a:solidFill>
                  <a:srgbClr val="222222"/>
                </a:solidFill>
                <a:latin typeface="Calibri" pitchFamily="34" charset="0"/>
                <a:ea typeface="Calibri" pitchFamily="34" charset="-122"/>
                <a:cs typeface="Calibri" pitchFamily="34" charset="-120"/>
              </a:rPr>
              <a:t>Verified users &amp; pet profiles</a:t>
            </a:r>
            <a:endParaRPr lang="en-US" sz="1200" dirty="0"/>
          </a:p>
          <a:p>
            <a:pPr marL="0" indent="0" algn="ctr">
              <a:buNone/>
            </a:pPr>
            <a:r>
              <a:rPr lang="en-US" sz="1050" dirty="0">
                <a:solidFill>
                  <a:srgbClr val="5B6B7A"/>
                </a:solidFill>
                <a:latin typeface="Calibri" pitchFamily="34" charset="0"/>
                <a:ea typeface="Calibri" pitchFamily="34" charset="-122"/>
                <a:cs typeface="Calibri" pitchFamily="34" charset="-120"/>
              </a:rPr>
              <a:t>Sign-up, roles &amp; KYC; pet profile, vaccination records, document access</a:t>
            </a:r>
            <a:endParaRPr lang="en-US" sz="1200" dirty="0"/>
          </a:p>
        </p:txBody>
      </p:sp>
      <p:sp>
        <p:nvSpPr>
          <p:cNvPr id="16" name="Shape 13"/>
          <p:cNvSpPr/>
          <p:nvPr/>
        </p:nvSpPr>
        <p:spPr>
          <a:xfrm>
            <a:off x="7635240" y="1719072"/>
            <a:ext cx="1920240" cy="402336"/>
          </a:xfrm>
          <a:prstGeom prst="homePlate">
            <a:avLst/>
          </a:prstGeom>
          <a:solidFill>
            <a:srgbClr val="F26B6B"/>
          </a:solidFill>
          <a:ln w="12700">
            <a:solidFill>
              <a:srgbClr val="F26B6B"/>
            </a:solidFill>
            <a:prstDash val="solid"/>
          </a:ln>
        </p:spPr>
      </p:sp>
      <p:sp>
        <p:nvSpPr>
          <p:cNvPr id="17" name="Text 14"/>
          <p:cNvSpPr txBox="1"/>
          <p:nvPr/>
        </p:nvSpPr>
        <p:spPr>
          <a:xfrm>
            <a:off x="7635240" y="1719072"/>
            <a:ext cx="178308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MARKETPLACE</a:t>
            </a:r>
            <a:endParaRPr lang="en-US" sz="1300" dirty="0"/>
          </a:p>
        </p:txBody>
      </p:sp>
      <p:sp>
        <p:nvSpPr>
          <p:cNvPr id="18" name="Shape 15"/>
          <p:cNvSpPr/>
          <p:nvPr/>
        </p:nvSpPr>
        <p:spPr>
          <a:xfrm>
            <a:off x="8366760" y="2286000"/>
            <a:ext cx="457200" cy="457200"/>
          </a:xfrm>
          <a:prstGeom prst="ellipse">
            <a:avLst/>
          </a:prstGeom>
          <a:solidFill>
            <a:srgbClr val="FFFFFF"/>
          </a:solidFill>
          <a:ln w="38100">
            <a:solidFill>
              <a:srgbClr val="F26B6B"/>
            </a:solidFill>
            <a:prstDash val="solid"/>
          </a:ln>
        </p:spPr>
      </p:sp>
      <p:sp>
        <p:nvSpPr>
          <p:cNvPr id="19" name="Text 16"/>
          <p:cNvSpPr txBox="1"/>
          <p:nvPr/>
        </p:nvSpPr>
        <p:spPr>
          <a:xfrm>
            <a:off x="8366760" y="2286000"/>
            <a:ext cx="457200" cy="457200"/>
          </a:xfrm>
          <a:prstGeom prst="rect">
            <a:avLst/>
          </a:prstGeom>
          <a:noFill/>
          <a:ln/>
        </p:spPr>
        <p:txBody>
          <a:bodyPr wrap="square" lIns="0" tIns="0" rIns="0" bIns="0" rtlCol="0" anchor="ctr"/>
          <a:lstStyle/>
          <a:p>
            <a:pPr marL="0" indent="0" algn="ctr">
              <a:buNone/>
            </a:pPr>
            <a:r>
              <a:rPr lang="en-US" sz="1600" b="1" dirty="0">
                <a:solidFill>
                  <a:srgbClr val="222222"/>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6995160" y="2770632"/>
            <a:ext cx="3200400" cy="822960"/>
          </a:xfrm>
          <a:prstGeom prst="rect">
            <a:avLst/>
          </a:prstGeom>
          <a:noFill/>
          <a:ln/>
        </p:spPr>
        <p:txBody>
          <a:bodyPr wrap="square" lIns="0" tIns="0" rIns="0" bIns="0" rtlCol="0" anchor="t"/>
          <a:lstStyle/>
          <a:p>
            <a:pPr marL="0" indent="0" algn="ctr">
              <a:buNone/>
            </a:pPr>
            <a:r>
              <a:rPr lang="en-US" sz="1200" b="1" dirty="0">
                <a:solidFill>
                  <a:srgbClr val="D9733B"/>
                </a:solidFill>
                <a:latin typeface="Calibri" pitchFamily="34" charset="0"/>
                <a:ea typeface="Calibri" pitchFamily="34" charset="-122"/>
                <a:cs typeface="Calibri" pitchFamily="34" charset="-120"/>
              </a:rPr>
              <a:t>M4-M6  </a:t>
            </a:r>
            <a:r>
              <a:rPr lang="en-US" sz="1200" b="1" dirty="0">
                <a:solidFill>
                  <a:srgbClr val="222222"/>
                </a:solidFill>
                <a:latin typeface="Calibri" pitchFamily="34" charset="0"/>
                <a:ea typeface="Calibri" pitchFamily="34" charset="-122"/>
                <a:cs typeface="Calibri" pitchFamily="34" charset="-120"/>
              </a:rPr>
              <a:t>Safe pet buying &amp; selling</a:t>
            </a:r>
            <a:endParaRPr lang="en-US" sz="1200" dirty="0"/>
          </a:p>
          <a:p>
            <a:pPr marL="0" indent="0" algn="ctr">
              <a:buNone/>
            </a:pPr>
            <a:r>
              <a:rPr lang="en-US" sz="1050" dirty="0">
                <a:solidFill>
                  <a:srgbClr val="5B6B7A"/>
                </a:solidFill>
                <a:latin typeface="Calibri" pitchFamily="34" charset="0"/>
                <a:ea typeface="Calibri" pitchFamily="34" charset="-122"/>
                <a:cs typeface="Calibri" pitchFamily="34" charset="-120"/>
              </a:rPr>
              <a:t>Listings &amp; search, messaging, protected payment, refunds, disputes &amp; audit</a:t>
            </a:r>
            <a:endParaRPr lang="en-US" sz="1200" dirty="0"/>
          </a:p>
        </p:txBody>
      </p:sp>
      <p:sp>
        <p:nvSpPr>
          <p:cNvPr id="21" name="Shape 18"/>
          <p:cNvSpPr/>
          <p:nvPr/>
        </p:nvSpPr>
        <p:spPr>
          <a:xfrm>
            <a:off x="1783080" y="5559552"/>
            <a:ext cx="1920240" cy="402336"/>
          </a:xfrm>
          <a:prstGeom prst="homePlate">
            <a:avLst/>
          </a:prstGeom>
          <a:solidFill>
            <a:srgbClr val="A9CC3E"/>
          </a:solidFill>
          <a:ln w="12700">
            <a:solidFill>
              <a:srgbClr val="A9CC3E"/>
            </a:solidFill>
            <a:prstDash val="solid"/>
          </a:ln>
        </p:spPr>
      </p:sp>
      <p:sp>
        <p:nvSpPr>
          <p:cNvPr id="22" name="Text 19"/>
          <p:cNvSpPr txBox="1"/>
          <p:nvPr/>
        </p:nvSpPr>
        <p:spPr>
          <a:xfrm>
            <a:off x="1783080" y="5559552"/>
            <a:ext cx="1783080" cy="402336"/>
          </a:xfrm>
          <a:prstGeom prst="rect">
            <a:avLst/>
          </a:prstGeom>
          <a:noFill/>
          <a:ln/>
        </p:spPr>
        <p:txBody>
          <a:bodyPr wrap="square" lIns="0" tIns="0" rIns="0" bIns="0" rtlCol="0" anchor="ctr"/>
          <a:lstStyle/>
          <a:p>
            <a:pPr marL="0" indent="0" algn="ctr">
              <a:buNone/>
            </a:pPr>
            <a:r>
              <a:rPr lang="en-US" sz="1300" b="1" dirty="0">
                <a:solidFill>
                  <a:srgbClr val="222222"/>
                </a:solidFill>
                <a:latin typeface="Calibri" pitchFamily="34" charset="0"/>
                <a:ea typeface="Calibri" pitchFamily="34" charset="-122"/>
                <a:cs typeface="Calibri" pitchFamily="34" charset="-120"/>
              </a:rPr>
              <a:t>CARE</a:t>
            </a:r>
            <a:endParaRPr lang="en-US" sz="1300" dirty="0"/>
          </a:p>
        </p:txBody>
      </p:sp>
      <p:sp>
        <p:nvSpPr>
          <p:cNvPr id="23" name="Shape 20"/>
          <p:cNvSpPr/>
          <p:nvPr/>
        </p:nvSpPr>
        <p:spPr>
          <a:xfrm>
            <a:off x="2514600" y="4206240"/>
            <a:ext cx="457200" cy="457200"/>
          </a:xfrm>
          <a:prstGeom prst="ellipse">
            <a:avLst/>
          </a:prstGeom>
          <a:solidFill>
            <a:srgbClr val="FFFFFF"/>
          </a:solidFill>
          <a:ln w="38100">
            <a:solidFill>
              <a:srgbClr val="A9CC3E"/>
            </a:solidFill>
            <a:prstDash val="solid"/>
          </a:ln>
        </p:spPr>
      </p:sp>
      <p:sp>
        <p:nvSpPr>
          <p:cNvPr id="24" name="Text 21"/>
          <p:cNvSpPr txBox="1"/>
          <p:nvPr/>
        </p:nvSpPr>
        <p:spPr>
          <a:xfrm>
            <a:off x="2514600" y="4206240"/>
            <a:ext cx="457200" cy="457200"/>
          </a:xfrm>
          <a:prstGeom prst="rect">
            <a:avLst/>
          </a:prstGeom>
          <a:noFill/>
          <a:ln/>
        </p:spPr>
        <p:txBody>
          <a:bodyPr wrap="square" lIns="0" tIns="0" rIns="0" bIns="0" rtlCol="0" anchor="ctr"/>
          <a:lstStyle/>
          <a:p>
            <a:pPr marL="0" indent="0" algn="ctr">
              <a:buNone/>
            </a:pPr>
            <a:r>
              <a:rPr lang="en-US" sz="1600" b="1" dirty="0">
                <a:solidFill>
                  <a:srgbClr val="222222"/>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1143000" y="4690872"/>
            <a:ext cx="3200400" cy="822960"/>
          </a:xfrm>
          <a:prstGeom prst="rect">
            <a:avLst/>
          </a:prstGeom>
          <a:noFill/>
          <a:ln/>
        </p:spPr>
        <p:txBody>
          <a:bodyPr wrap="square" lIns="0" tIns="0" rIns="0" bIns="0" rtlCol="0" anchor="t"/>
          <a:lstStyle/>
          <a:p>
            <a:pPr marL="0" indent="0" algn="ctr">
              <a:buNone/>
            </a:pPr>
            <a:r>
              <a:rPr lang="en-US" sz="1200" b="1" dirty="0">
                <a:solidFill>
                  <a:srgbClr val="D9733B"/>
                </a:solidFill>
                <a:latin typeface="Calibri" pitchFamily="34" charset="0"/>
                <a:ea typeface="Calibri" pitchFamily="34" charset="-122"/>
                <a:cs typeface="Calibri" pitchFamily="34" charset="-120"/>
              </a:rPr>
              <a:t>M5-M7  </a:t>
            </a:r>
            <a:r>
              <a:rPr lang="en-US" sz="1200" b="1" dirty="0">
                <a:solidFill>
                  <a:srgbClr val="222222"/>
                </a:solidFill>
                <a:latin typeface="Calibri" pitchFamily="34" charset="0"/>
                <a:ea typeface="Calibri" pitchFamily="34" charset="-122"/>
                <a:cs typeface="Calibri" pitchFamily="34" charset="-120"/>
              </a:rPr>
              <a:t>Sitting &amp; vet care</a:t>
            </a:r>
            <a:endParaRPr lang="en-US" sz="1200" dirty="0"/>
          </a:p>
          <a:p>
            <a:pPr marL="0" indent="0" algn="ctr">
              <a:buNone/>
            </a:pPr>
            <a:r>
              <a:rPr lang="en-US" sz="1050" dirty="0">
                <a:solidFill>
                  <a:srgbClr val="5B6B7A"/>
                </a:solidFill>
                <a:latin typeface="Calibri" pitchFamily="34" charset="0"/>
                <a:ea typeface="Calibri" pitchFamily="34" charset="-122"/>
                <a:cs typeface="Calibri" pitchFamily="34" charset="-120"/>
              </a:rPr>
              <a:t>Sitter booking &amp; ratings; vet licence, slots, video consults; reminders</a:t>
            </a:r>
            <a:endParaRPr lang="en-US" sz="1200" dirty="0"/>
          </a:p>
        </p:txBody>
      </p:sp>
      <p:sp>
        <p:nvSpPr>
          <p:cNvPr id="26" name="Shape 23"/>
          <p:cNvSpPr/>
          <p:nvPr/>
        </p:nvSpPr>
        <p:spPr>
          <a:xfrm>
            <a:off x="5394960" y="5559552"/>
            <a:ext cx="1920240" cy="402336"/>
          </a:xfrm>
          <a:prstGeom prst="homePlate">
            <a:avLst/>
          </a:prstGeom>
          <a:solidFill>
            <a:srgbClr val="5FC7D1"/>
          </a:solidFill>
          <a:ln w="12700">
            <a:solidFill>
              <a:srgbClr val="5FC7D1"/>
            </a:solidFill>
            <a:prstDash val="solid"/>
          </a:ln>
        </p:spPr>
      </p:sp>
      <p:sp>
        <p:nvSpPr>
          <p:cNvPr id="27" name="Text 24"/>
          <p:cNvSpPr txBox="1"/>
          <p:nvPr/>
        </p:nvSpPr>
        <p:spPr>
          <a:xfrm>
            <a:off x="5394960" y="5559552"/>
            <a:ext cx="1783080" cy="402336"/>
          </a:xfrm>
          <a:prstGeom prst="rect">
            <a:avLst/>
          </a:prstGeom>
          <a:noFill/>
          <a:ln/>
        </p:spPr>
        <p:txBody>
          <a:bodyPr wrap="square" lIns="0" tIns="0" rIns="0" bIns="0" rtlCol="0" anchor="ctr"/>
          <a:lstStyle/>
          <a:p>
            <a:pPr marL="0" indent="0" algn="ctr">
              <a:buNone/>
            </a:pPr>
            <a:r>
              <a:rPr lang="en-US" sz="1300" b="1" dirty="0">
                <a:solidFill>
                  <a:srgbClr val="222222"/>
                </a:solidFill>
                <a:latin typeface="Calibri" pitchFamily="34" charset="0"/>
                <a:ea typeface="Calibri" pitchFamily="34" charset="-122"/>
                <a:cs typeface="Calibri" pitchFamily="34" charset="-120"/>
              </a:rPr>
              <a:t>SHOP &amp; SMART</a:t>
            </a:r>
            <a:endParaRPr lang="en-US" sz="1300" dirty="0"/>
          </a:p>
        </p:txBody>
      </p:sp>
      <p:sp>
        <p:nvSpPr>
          <p:cNvPr id="28" name="Shape 25"/>
          <p:cNvSpPr/>
          <p:nvPr/>
        </p:nvSpPr>
        <p:spPr>
          <a:xfrm>
            <a:off x="6126480" y="4206240"/>
            <a:ext cx="457200" cy="457200"/>
          </a:xfrm>
          <a:prstGeom prst="ellipse">
            <a:avLst/>
          </a:prstGeom>
          <a:solidFill>
            <a:srgbClr val="FFFFFF"/>
          </a:solidFill>
          <a:ln w="38100">
            <a:solidFill>
              <a:srgbClr val="5FC7D1"/>
            </a:solidFill>
            <a:prstDash val="solid"/>
          </a:ln>
        </p:spPr>
      </p:sp>
      <p:sp>
        <p:nvSpPr>
          <p:cNvPr id="29" name="Text 26"/>
          <p:cNvSpPr txBox="1"/>
          <p:nvPr/>
        </p:nvSpPr>
        <p:spPr>
          <a:xfrm>
            <a:off x="6126480" y="4206240"/>
            <a:ext cx="457200" cy="457200"/>
          </a:xfrm>
          <a:prstGeom prst="rect">
            <a:avLst/>
          </a:prstGeom>
          <a:noFill/>
          <a:ln/>
        </p:spPr>
        <p:txBody>
          <a:bodyPr wrap="square" lIns="0" tIns="0" rIns="0" bIns="0" rtlCol="0" anchor="ctr"/>
          <a:lstStyle/>
          <a:p>
            <a:pPr marL="0" indent="0" algn="ctr">
              <a:buNone/>
            </a:pPr>
            <a:r>
              <a:rPr lang="en-US" sz="1600" b="1" dirty="0">
                <a:solidFill>
                  <a:srgbClr val="222222"/>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4754880" y="4690872"/>
            <a:ext cx="3200400" cy="822960"/>
          </a:xfrm>
          <a:prstGeom prst="rect">
            <a:avLst/>
          </a:prstGeom>
          <a:noFill/>
          <a:ln/>
        </p:spPr>
        <p:txBody>
          <a:bodyPr wrap="square" lIns="0" tIns="0" rIns="0" bIns="0" rtlCol="0" anchor="t"/>
          <a:lstStyle/>
          <a:p>
            <a:pPr marL="0" indent="0" algn="ctr">
              <a:buNone/>
            </a:pPr>
            <a:r>
              <a:rPr lang="en-US" sz="1200" b="1" dirty="0">
                <a:solidFill>
                  <a:srgbClr val="D9733B"/>
                </a:solidFill>
                <a:latin typeface="Calibri" pitchFamily="34" charset="0"/>
                <a:ea typeface="Calibri" pitchFamily="34" charset="-122"/>
                <a:cs typeface="Calibri" pitchFamily="34" charset="-120"/>
              </a:rPr>
              <a:t>M6-M8  </a:t>
            </a:r>
            <a:r>
              <a:rPr lang="en-US" sz="1200" b="1" dirty="0">
                <a:solidFill>
                  <a:srgbClr val="222222"/>
                </a:solidFill>
                <a:latin typeface="Calibri" pitchFamily="34" charset="0"/>
                <a:ea typeface="Calibri" pitchFamily="34" charset="-122"/>
                <a:cs typeface="Calibri" pitchFamily="34" charset="-120"/>
              </a:rPr>
              <a:t>Store, AI &amp; admin</a:t>
            </a:r>
            <a:endParaRPr lang="en-US" sz="1200" dirty="0"/>
          </a:p>
          <a:p>
            <a:pPr marL="0" indent="0" algn="ctr">
              <a:buNone/>
            </a:pPr>
            <a:r>
              <a:rPr lang="en-US" sz="1050" dirty="0">
                <a:solidFill>
                  <a:srgbClr val="5B6B7A"/>
                </a:solidFill>
                <a:latin typeface="Calibri" pitchFamily="34" charset="0"/>
                <a:ea typeface="Calibri" pitchFamily="34" charset="-122"/>
                <a:cs typeface="Calibri" pitchFamily="34" charset="-120"/>
              </a:rPr>
              <a:t>Food store, personalised discovery, support chatbot, vet triage, admin dashboard</a:t>
            </a:r>
            <a:endParaRPr lang="en-US" sz="1200" dirty="0"/>
          </a:p>
        </p:txBody>
      </p:sp>
      <p:sp>
        <p:nvSpPr>
          <p:cNvPr id="31" name="Shape 28"/>
          <p:cNvSpPr/>
          <p:nvPr/>
        </p:nvSpPr>
        <p:spPr>
          <a:xfrm>
            <a:off x="8869680" y="5559552"/>
            <a:ext cx="1920240" cy="402336"/>
          </a:xfrm>
          <a:prstGeom prst="homePlate">
            <a:avLst/>
          </a:prstGeom>
          <a:solidFill>
            <a:srgbClr val="6C74E6"/>
          </a:solidFill>
          <a:ln w="12700">
            <a:solidFill>
              <a:srgbClr val="6C74E6"/>
            </a:solidFill>
            <a:prstDash val="solid"/>
          </a:ln>
        </p:spPr>
      </p:sp>
      <p:sp>
        <p:nvSpPr>
          <p:cNvPr id="32" name="Text 29"/>
          <p:cNvSpPr txBox="1"/>
          <p:nvPr/>
        </p:nvSpPr>
        <p:spPr>
          <a:xfrm>
            <a:off x="8869680" y="5559552"/>
            <a:ext cx="178308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LAUNCH</a:t>
            </a:r>
            <a:endParaRPr lang="en-US" sz="1300" dirty="0"/>
          </a:p>
        </p:txBody>
      </p:sp>
      <p:sp>
        <p:nvSpPr>
          <p:cNvPr id="33" name="Shape 30"/>
          <p:cNvSpPr/>
          <p:nvPr/>
        </p:nvSpPr>
        <p:spPr>
          <a:xfrm>
            <a:off x="9601200" y="4206240"/>
            <a:ext cx="457200" cy="457200"/>
          </a:xfrm>
          <a:prstGeom prst="ellipse">
            <a:avLst/>
          </a:prstGeom>
          <a:solidFill>
            <a:srgbClr val="FFFFFF"/>
          </a:solidFill>
          <a:ln w="38100">
            <a:solidFill>
              <a:srgbClr val="6C74E6"/>
            </a:solidFill>
            <a:prstDash val="solid"/>
          </a:ln>
        </p:spPr>
      </p:sp>
      <p:sp>
        <p:nvSpPr>
          <p:cNvPr id="34" name="Text 31"/>
          <p:cNvSpPr txBox="1"/>
          <p:nvPr/>
        </p:nvSpPr>
        <p:spPr>
          <a:xfrm>
            <a:off x="9601200" y="4206240"/>
            <a:ext cx="457200" cy="457200"/>
          </a:xfrm>
          <a:prstGeom prst="rect">
            <a:avLst/>
          </a:prstGeom>
          <a:noFill/>
          <a:ln/>
        </p:spPr>
        <p:txBody>
          <a:bodyPr wrap="square" lIns="0" tIns="0" rIns="0" bIns="0" rtlCol="0" anchor="ctr"/>
          <a:lstStyle/>
          <a:p>
            <a:pPr marL="0" indent="0" algn="ctr">
              <a:buNone/>
            </a:pPr>
            <a:r>
              <a:rPr lang="en-US" sz="1600" b="1" dirty="0">
                <a:solidFill>
                  <a:srgbClr val="222222"/>
                </a:solidFill>
                <a:latin typeface="Calibri" pitchFamily="34" charset="0"/>
                <a:ea typeface="Calibri" pitchFamily="34" charset="-122"/>
                <a:cs typeface="Calibri" pitchFamily="34" charset="-120"/>
              </a:rPr>
              <a:t>6</a:t>
            </a:r>
            <a:endParaRPr lang="en-US" sz="1600" dirty="0"/>
          </a:p>
        </p:txBody>
      </p:sp>
      <p:sp>
        <p:nvSpPr>
          <p:cNvPr id="35" name="Text 32"/>
          <p:cNvSpPr txBox="1"/>
          <p:nvPr/>
        </p:nvSpPr>
        <p:spPr>
          <a:xfrm>
            <a:off x="8229600" y="4690872"/>
            <a:ext cx="3200400" cy="822960"/>
          </a:xfrm>
          <a:prstGeom prst="rect">
            <a:avLst/>
          </a:prstGeom>
          <a:noFill/>
          <a:ln/>
        </p:spPr>
        <p:txBody>
          <a:bodyPr wrap="square" lIns="0" tIns="0" rIns="0" bIns="0" rtlCol="0" anchor="t"/>
          <a:lstStyle/>
          <a:p>
            <a:pPr marL="0" indent="0" algn="ctr">
              <a:buNone/>
            </a:pPr>
            <a:r>
              <a:rPr lang="en-US" sz="1200" b="1" dirty="0">
                <a:solidFill>
                  <a:srgbClr val="D9733B"/>
                </a:solidFill>
                <a:latin typeface="Calibri" pitchFamily="34" charset="0"/>
                <a:ea typeface="Calibri" pitchFamily="34" charset="-122"/>
                <a:cs typeface="Calibri" pitchFamily="34" charset="-120"/>
              </a:rPr>
              <a:t>M9-M12  </a:t>
            </a:r>
            <a:r>
              <a:rPr lang="en-US" sz="1200" b="1" dirty="0">
                <a:solidFill>
                  <a:srgbClr val="222222"/>
                </a:solidFill>
                <a:latin typeface="Calibri" pitchFamily="34" charset="0"/>
                <a:ea typeface="Calibri" pitchFamily="34" charset="-122"/>
                <a:cs typeface="Calibri" pitchFamily="34" charset="-120"/>
              </a:rPr>
              <a:t>Test, pilot &amp; go-live</a:t>
            </a:r>
            <a:endParaRPr lang="en-US" sz="1200" dirty="0"/>
          </a:p>
          <a:p>
            <a:pPr marL="0" indent="0" algn="ctr">
              <a:buNone/>
            </a:pPr>
            <a:r>
              <a:rPr lang="en-US" sz="1050" dirty="0">
                <a:solidFill>
                  <a:srgbClr val="5B6B7A"/>
                </a:solidFill>
                <a:latin typeface="Calibri" pitchFamily="34" charset="0"/>
                <a:ea typeface="Calibri" pitchFamily="34" charset="-122"/>
                <a:cs typeface="Calibri" pitchFamily="34" charset="-120"/>
              </a:rPr>
              <a:t>UAT &amp; security tests, Karachi pilot, hardening, privacy controls, deployment</a:t>
            </a:r>
            <a:endParaRPr lang="en-US" sz="1200" dirty="0"/>
          </a:p>
        </p:txBody>
      </p:sp>
      <p:sp>
        <p:nvSpPr>
          <p:cNvPr id="36" name="Shape 33"/>
          <p:cNvSpPr/>
          <p:nvPr/>
        </p:nvSpPr>
        <p:spPr>
          <a:xfrm>
            <a:off x="10561320" y="2743200"/>
            <a:ext cx="1188720" cy="292608"/>
          </a:xfrm>
          <a:prstGeom prst="roundRect">
            <a:avLst>
              <a:gd name="adj" fmla="val 31250"/>
            </a:avLst>
          </a:prstGeom>
          <a:solidFill>
            <a:srgbClr val="F7B955"/>
          </a:solidFill>
          <a:ln w="12700">
            <a:solidFill>
              <a:srgbClr val="F7B955"/>
            </a:solidFill>
            <a:prstDash val="solid"/>
          </a:ln>
        </p:spPr>
      </p:sp>
      <p:sp>
        <p:nvSpPr>
          <p:cNvPr id="37" name="Text 34"/>
          <p:cNvSpPr txBox="1"/>
          <p:nvPr/>
        </p:nvSpPr>
        <p:spPr>
          <a:xfrm>
            <a:off x="10561320" y="2743200"/>
            <a:ext cx="1188720" cy="292608"/>
          </a:xfrm>
          <a:prstGeom prst="rect">
            <a:avLst/>
          </a:prstGeom>
          <a:noFill/>
          <a:ln/>
        </p:spPr>
        <p:txBody>
          <a:bodyPr wrap="square" lIns="0" tIns="0" rIns="0" bIns="0" rtlCol="0" anchor="ctr"/>
          <a:lstStyle/>
          <a:p>
            <a:pPr marL="0" indent="0" algn="ctr">
              <a:buNone/>
            </a:pPr>
            <a:r>
              <a:rPr lang="en-US" sz="1000" b="1" dirty="0">
                <a:solidFill>
                  <a:srgbClr val="222222"/>
                </a:solidFill>
                <a:latin typeface="Calibri" pitchFamily="34" charset="0"/>
                <a:ea typeface="Calibri" pitchFamily="34" charset="-122"/>
                <a:cs typeface="Calibri" pitchFamily="34" charset="-120"/>
              </a:rPr>
              <a:t>P-I GATE: M6</a:t>
            </a:r>
            <a:endParaRPr lang="en-US" sz="1000" dirty="0"/>
          </a:p>
        </p:txBody>
      </p:sp>
      <p:sp>
        <p:nvSpPr>
          <p:cNvPr id="38" name="Text 35"/>
          <p:cNvSpPr txBox="1"/>
          <p:nvPr/>
        </p:nvSpPr>
        <p:spPr>
          <a:xfrm>
            <a:off x="457200" y="6263640"/>
            <a:ext cx="11247120" cy="274320"/>
          </a:xfrm>
          <a:prstGeom prst="rect">
            <a:avLst/>
          </a:prstGeom>
          <a:noFill/>
          <a:ln/>
        </p:spPr>
        <p:txBody>
          <a:bodyPr wrap="square" lIns="0" tIns="0" rIns="0" bIns="0" rtlCol="0" anchor="ctr"/>
          <a:lstStyle/>
          <a:p>
            <a:pPr marL="0" indent="0" algn="ctr">
              <a:buNone/>
            </a:pPr>
            <a:r>
              <a:rPr lang="en-US" sz="1100" i="1" dirty="0">
                <a:solidFill>
                  <a:srgbClr val="5B6B7A"/>
                </a:solidFill>
                <a:latin typeface="Calibri" pitchFamily="34" charset="0"/>
                <a:ea typeface="Calibri" pitchFamily="34" charset="-122"/>
                <a:cs typeface="Calibri" pitchFamily="34" charset="-120"/>
              </a:rPr>
              <a:t>Stops overlap. Months are project months (M1 = start of Fall 2026). Practicum-I covers M1-M6, Practicum-II covers M7-M12.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Progress tracking: burnup chart</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Burnup shows completed stories against total scope; actual progress must be evidence-based</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20</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20</a:t>
            </a:r>
          </a:p>
        </p:txBody>
      </p:sp>
      <p:pic>
        <p:nvPicPr>
          <p:cNvPr id="8" name="Picture 7" descr="ThePetsVault_Final_Burnup_Chart.png"/>
          <p:cNvPicPr>
            <a:picLocks noChangeAspect="1"/>
          </p:cNvPicPr>
          <p:nvPr/>
        </p:nvPicPr>
        <p:blipFill>
          <a:blip r:embed="rId2"/>
          <a:stretch>
            <a:fillRect/>
          </a:stretch>
        </p:blipFill>
        <p:spPr>
          <a:xfrm>
            <a:off x="594360" y="1234440"/>
            <a:ext cx="7315200" cy="3612503"/>
          </a:xfrm>
          <a:prstGeom prst="rect">
            <a:avLst/>
          </a:prstGeom>
        </p:spPr>
      </p:pic>
      <p:sp>
        <p:nvSpPr>
          <p:cNvPr id="9" name="TextBox 8"/>
          <p:cNvSpPr txBox="1"/>
          <p:nvPr/>
        </p:nvSpPr>
        <p:spPr>
          <a:xfrm>
            <a:off x="8092440" y="1508760"/>
            <a:ext cx="3383280" cy="4023360"/>
          </a:xfrm>
          <a:prstGeom prst="rect">
            <a:avLst/>
          </a:prstGeom>
          <a:noFill/>
        </p:spPr>
        <p:txBody>
          <a:bodyPr wrap="square" lIns="73152" rIns="73152">
            <a:spAutoFit/>
          </a:bodyPr>
          <a:lstStyle/>
          <a:p>
            <a:pPr>
              <a:spcAft>
                <a:spcPts val="1000"/>
              </a:spcAft>
              <a:defRPr sz="1500">
                <a:solidFill>
                  <a:srgbClr val="27313B"/>
                </a:solidFill>
                <a:latin typeface="Aptos"/>
              </a:defRPr>
            </a:pPr>
            <a:r>
              <a:t>•  Source plan: about 15 of 29 stories by M6</a:t>
            </a:r>
          </a:p>
          <a:p>
            <a:pPr>
              <a:spcAft>
                <a:spcPts val="1000"/>
              </a:spcAft>
              <a:defRPr sz="1500">
                <a:solidFill>
                  <a:srgbClr val="27313B"/>
                </a:solidFill>
                <a:latin typeface="Aptos"/>
              </a:defRPr>
            </a:pPr>
            <a:r>
              <a:t>•  Approx. 14 stories remain at that planned gate</a:t>
            </a:r>
          </a:p>
          <a:p>
            <a:pPr>
              <a:spcAft>
                <a:spcPts val="1000"/>
              </a:spcAft>
              <a:defRPr sz="1500">
                <a:solidFill>
                  <a:srgbClr val="27313B"/>
                </a:solidFill>
                <a:latin typeface="Aptos"/>
              </a:defRPr>
            </a:pPr>
            <a:r>
              <a:t>•  Actual line is intentionally not shown until real data is entered</a:t>
            </a:r>
          </a:p>
          <a:p>
            <a:pPr>
              <a:spcAft>
                <a:spcPts val="1000"/>
              </a:spcAft>
              <a:defRPr sz="1500">
                <a:solidFill>
                  <a:srgbClr val="27313B"/>
                </a:solidFill>
                <a:latin typeface="Aptos"/>
              </a:defRPr>
            </a:pPr>
            <a:r>
              <a:t>•  Count a story only when it meets Definition of Done</a:t>
            </a:r>
          </a:p>
          <a:p>
            <a:pPr>
              <a:spcAft>
                <a:spcPts val="1000"/>
              </a:spcAft>
              <a:defRPr sz="1500">
                <a:solidFill>
                  <a:srgbClr val="27313B"/>
                </a:solidFill>
                <a:latin typeface="Aptos"/>
              </a:defRPr>
            </a:pPr>
            <a:r>
              <a:t>•  Remaining = current scope − completed stories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Budget &amp; earned value management</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PKR 4.80M planning baseline across 12 months</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21</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21</a:t>
            </a:r>
          </a:p>
        </p:txBody>
      </p:sp>
      <p:sp>
        <p:nvSpPr>
          <p:cNvPr id="8" name="Rounded Rectangle 7"/>
          <p:cNvSpPr/>
          <p:nvPr/>
        </p:nvSpPr>
        <p:spPr>
          <a:xfrm>
            <a:off x="640080" y="1234440"/>
            <a:ext cx="5440680" cy="452628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BUDGET CATEGORIES (PKR 000s)</a:t>
            </a:r>
          </a:p>
          <a:p>
            <a:pPr>
              <a:spcBef>
                <a:spcPts val="700"/>
              </a:spcBef>
              <a:defRPr sz="1100">
                <a:solidFill>
                  <a:srgbClr val="27313B"/>
                </a:solidFill>
                <a:latin typeface="Aptos"/>
              </a:defRPr>
            </a:pPr>
            <a:r>
              <a:t>• Software development: 1,400</a:t>
            </a:r>
            <a:br/>
            <a:r>
              <a:t>• Project management / product: 500</a:t>
            </a:r>
            <a:br/>
            <a:r>
              <a:t>• AI engineering: 500</a:t>
            </a:r>
            <a:br/>
            <a:r>
              <a:t>• Cloud, APIs, video, SMS: 350</a:t>
            </a:r>
            <a:br/>
            <a:r>
              <a:t>• QA &amp; testing: 300</a:t>
            </a:r>
            <a:br/>
            <a:r>
              <a:t>• Pilot marketing: 260</a:t>
            </a:r>
            <a:br/>
            <a:r>
              <a:t>• UI/UX: 250</a:t>
            </a:r>
            <a:br/>
            <a:r>
              <a:t>• Security / VAPT: 250</a:t>
            </a:r>
            <a:br/>
            <a:r>
              <a:t>• Business onboarding: 250</a:t>
            </a:r>
            <a:br/>
            <a:r>
              <a:t>• Contingency: 200</a:t>
            </a:r>
            <a:br/>
            <a:r>
              <a:t>• DevOps: 180</a:t>
            </a:r>
            <a:br/>
            <a:r>
              <a:t>• Legal &amp; compliance: 180</a:t>
            </a:r>
            <a:br/>
            <a:r>
              <a:t>• Veterinary SME: 180</a:t>
            </a:r>
          </a:p>
        </p:txBody>
      </p:sp>
      <p:sp>
        <p:nvSpPr>
          <p:cNvPr id="9" name="Rounded Rectangle 8"/>
          <p:cNvSpPr/>
          <p:nvPr/>
        </p:nvSpPr>
        <p:spPr>
          <a:xfrm>
            <a:off x="6355080" y="1234440"/>
            <a:ext cx="5166360" cy="192024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EARNED VALUE BASICS</a:t>
            </a:r>
          </a:p>
          <a:p>
            <a:pPr>
              <a:spcBef>
                <a:spcPts val="700"/>
              </a:spcBef>
              <a:defRPr sz="1400">
                <a:solidFill>
                  <a:srgbClr val="27313B"/>
                </a:solidFill>
                <a:latin typeface="Aptos"/>
              </a:defRPr>
            </a:pPr>
            <a:r>
              <a:t>PV = planned value</a:t>
            </a:r>
            <a:br/>
            <a:r>
              <a:t>EV = earned value of completed work</a:t>
            </a:r>
            <a:br/>
            <a:r>
              <a:t>AC = actual cost</a:t>
            </a:r>
          </a:p>
        </p:txBody>
      </p:sp>
      <p:sp>
        <p:nvSpPr>
          <p:cNvPr id="10" name="Rounded Rectangle 9"/>
          <p:cNvSpPr/>
          <p:nvPr/>
        </p:nvSpPr>
        <p:spPr>
          <a:xfrm>
            <a:off x="6355080" y="3429000"/>
            <a:ext cx="5166360" cy="2331720"/>
          </a:xfrm>
          <a:prstGeom prst="roundRect">
            <a:avLst/>
          </a:prstGeom>
          <a:solidFill>
            <a:srgbClr val="F6F8FA"/>
          </a:solidFill>
          <a:ln w="15240">
            <a:solidFill>
              <a:srgbClr val="D68B3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CONTROL INDICATORS</a:t>
            </a:r>
          </a:p>
          <a:p>
            <a:pPr>
              <a:spcBef>
                <a:spcPts val="700"/>
              </a:spcBef>
              <a:defRPr sz="1400">
                <a:solidFill>
                  <a:srgbClr val="27313B"/>
                </a:solidFill>
                <a:latin typeface="Aptos"/>
              </a:defRPr>
            </a:pPr>
            <a:r>
              <a:t>CPI = EV / AC</a:t>
            </a:r>
            <a:br/>
            <a:r>
              <a:t>SPI = EV / PV</a:t>
            </a:r>
            <a:br/>
            <a:r>
              <a:t>EAC = BAC / CPI</a:t>
            </a:r>
            <a:br/>
            <a:r>
              <a:t>Below 0.90 triggers corrective action in the current plan.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Top risks &amp; responses</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Risk response should be tied to a trigger and an accountable owner</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22</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22</a:t>
            </a:r>
          </a:p>
        </p:txBody>
      </p:sp>
      <p:sp>
        <p:nvSpPr>
          <p:cNvPr id="8" name="Rounded Rectangle 7"/>
          <p:cNvSpPr/>
          <p:nvPr/>
        </p:nvSpPr>
        <p:spPr>
          <a:xfrm>
            <a:off x="685800" y="1234440"/>
            <a:ext cx="5257800" cy="132588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R2 — Low pilot supply</a:t>
            </a:r>
          </a:p>
          <a:p>
            <a:pPr>
              <a:spcBef>
                <a:spcPts val="700"/>
              </a:spcBef>
              <a:defRPr sz="1100">
                <a:solidFill>
                  <a:srgbClr val="27313B"/>
                </a:solidFill>
                <a:latin typeface="Aptos"/>
              </a:defRPr>
            </a:pPr>
            <a:r>
              <a:t>Onboard early; set minimum quotas. If below quota two weeks before launch, consider launching with 1–2 strongest pillars.</a:t>
            </a:r>
          </a:p>
        </p:txBody>
      </p:sp>
      <p:sp>
        <p:nvSpPr>
          <p:cNvPr id="9" name="Rounded Rectangle 8"/>
          <p:cNvSpPr/>
          <p:nvPr/>
        </p:nvSpPr>
        <p:spPr>
          <a:xfrm>
            <a:off x="6309360" y="1234440"/>
            <a:ext cx="5257800" cy="132588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R8 — Payment/KYC provider delay</a:t>
            </a:r>
          </a:p>
          <a:p>
            <a:pPr>
              <a:spcBef>
                <a:spcPts val="700"/>
              </a:spcBef>
              <a:defRPr sz="1100">
                <a:solidFill>
                  <a:srgbClr val="27313B"/>
                </a:solidFill>
                <a:latin typeface="Aptos"/>
              </a:defRPr>
            </a:pPr>
            <a:r>
              <a:t>Start approvals early; use adapters and sandbox/mock in practicum; production remains blocked until approvals.</a:t>
            </a:r>
          </a:p>
        </p:txBody>
      </p:sp>
      <p:sp>
        <p:nvSpPr>
          <p:cNvPr id="10" name="Rounded Rectangle 9"/>
          <p:cNvSpPr/>
          <p:nvPr/>
        </p:nvSpPr>
        <p:spPr>
          <a:xfrm>
            <a:off x="685800" y="2834640"/>
            <a:ext cx="5257800" cy="132588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R6 — Unsafe AI guidance</a:t>
            </a:r>
          </a:p>
          <a:p>
            <a:pPr>
              <a:spcBef>
                <a:spcPts val="700"/>
              </a:spcBef>
              <a:defRPr sz="1100">
                <a:solidFill>
                  <a:srgbClr val="27313B"/>
                </a:solidFill>
                <a:latin typeface="Aptos"/>
              </a:defRPr>
            </a:pPr>
            <a:r>
              <a:t>Vet-reviewed knowledge, red-flag rules, human override; switch to deterministic routing if unsafe output is found.</a:t>
            </a:r>
          </a:p>
        </p:txBody>
      </p:sp>
      <p:sp>
        <p:nvSpPr>
          <p:cNvPr id="11" name="Rounded Rectangle 10"/>
          <p:cNvSpPr/>
          <p:nvPr/>
        </p:nvSpPr>
        <p:spPr>
          <a:xfrm>
            <a:off x="6309360" y="2834640"/>
            <a:ext cx="5257800" cy="132588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R1 — Scope creep</a:t>
            </a:r>
          </a:p>
          <a:p>
            <a:pPr>
              <a:spcBef>
                <a:spcPts val="700"/>
              </a:spcBef>
              <a:defRPr sz="1100">
                <a:solidFill>
                  <a:srgbClr val="27313B"/>
                </a:solidFill>
                <a:latin typeface="Aptos"/>
              </a:defRPr>
            </a:pPr>
            <a:r>
              <a:t>MoSCoW prioritisation and formal change requests.</a:t>
            </a:r>
          </a:p>
        </p:txBody>
      </p:sp>
      <p:sp>
        <p:nvSpPr>
          <p:cNvPr id="12" name="Rounded Rectangle 11"/>
          <p:cNvSpPr/>
          <p:nvPr/>
        </p:nvSpPr>
        <p:spPr>
          <a:xfrm>
            <a:off x="685800" y="4434840"/>
            <a:ext cx="5257800" cy="132588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R10 — Team bottleneck</a:t>
            </a:r>
          </a:p>
          <a:p>
            <a:pPr>
              <a:spcBef>
                <a:spcPts val="700"/>
              </a:spcBef>
              <a:defRPr sz="1100">
                <a:solidFill>
                  <a:srgbClr val="27313B"/>
                </a:solidFill>
                <a:latin typeface="Aptos"/>
              </a:defRPr>
            </a:pPr>
            <a:r>
              <a:t>Cross-training, schedule buffer and priority control.</a:t>
            </a:r>
          </a:p>
        </p:txBody>
      </p:sp>
      <p:sp>
        <p:nvSpPr>
          <p:cNvPr id="13" name="Rounded Rectangle 12"/>
          <p:cNvSpPr/>
          <p:nvPr/>
        </p:nvSpPr>
        <p:spPr>
          <a:xfrm>
            <a:off x="6309360" y="4434840"/>
            <a:ext cx="5257800" cy="132588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300" b="1">
                <a:solidFill>
                  <a:srgbClr val="14304C"/>
                </a:solidFill>
                <a:latin typeface="Aptos Display"/>
              </a:defRPr>
            </a:pPr>
            <a:r>
              <a:t>Fraud / misleading listings</a:t>
            </a:r>
          </a:p>
          <a:p>
            <a:pPr>
              <a:spcBef>
                <a:spcPts val="700"/>
              </a:spcBef>
              <a:defRPr sz="1100">
                <a:solidFill>
                  <a:srgbClr val="27313B"/>
                </a:solidFill>
                <a:latin typeface="Aptos"/>
              </a:defRPr>
            </a:pPr>
            <a:r>
              <a:t>KYC gate, moderation queue, user reporting and prohibited-species rules.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Quality management &amp; Definition of Done</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No gate should pass without evidence</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23</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23</a:t>
            </a:r>
          </a:p>
        </p:txBody>
      </p:sp>
      <p:sp>
        <p:nvSpPr>
          <p:cNvPr id="8" name="Rounded Rectangle 7"/>
          <p:cNvSpPr/>
          <p:nvPr/>
        </p:nvSpPr>
        <p:spPr>
          <a:xfrm>
            <a:off x="685800" y="1325880"/>
            <a:ext cx="5303520" cy="448056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DEFINITION OF DONE</a:t>
            </a:r>
          </a:p>
          <a:p>
            <a:pPr>
              <a:spcBef>
                <a:spcPts val="700"/>
              </a:spcBef>
              <a:defRPr sz="1300">
                <a:solidFill>
                  <a:srgbClr val="27313B"/>
                </a:solidFill>
                <a:latin typeface="Aptos"/>
              </a:defRPr>
            </a:pPr>
            <a:r>
              <a:t>• Acceptance criteria met</a:t>
            </a:r>
            <a:br/>
            <a:r>
              <a:t>• Peer-reviewed code merged</a:t>
            </a:r>
            <a:br/>
            <a:r>
              <a:t>• Automated and functional tests pass</a:t>
            </a:r>
            <a:br/>
            <a:r>
              <a:t>• Security/privacy checks completed</a:t>
            </a:r>
            <a:br/>
            <a:r>
              <a:t>• Sandbox integrations and failure paths tested</a:t>
            </a:r>
            <a:br/>
            <a:r>
              <a:t>• AI benchmark and safety checks completed</a:t>
            </a:r>
            <a:br/>
            <a:r>
              <a:t>• No unresolved critical/high defect</a:t>
            </a:r>
            <a:br/>
            <a:r>
              <a:t>• Documentation updated</a:t>
            </a:r>
            <a:br/>
            <a:r>
              <a:t>• Deployed to staging and demonstrated</a:t>
            </a:r>
          </a:p>
        </p:txBody>
      </p:sp>
      <p:sp>
        <p:nvSpPr>
          <p:cNvPr id="9" name="Rounded Rectangle 8"/>
          <p:cNvSpPr/>
          <p:nvPr/>
        </p:nvSpPr>
        <p:spPr>
          <a:xfrm>
            <a:off x="6217920" y="1325880"/>
            <a:ext cx="5257800" cy="448056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600" b="1">
                <a:solidFill>
                  <a:srgbClr val="14304C"/>
                </a:solidFill>
                <a:latin typeface="Aptos Display"/>
              </a:defRPr>
            </a:pPr>
            <a:r>
              <a:t>TEST STRATEGY</a:t>
            </a:r>
          </a:p>
          <a:p>
            <a:pPr>
              <a:spcBef>
                <a:spcPts val="700"/>
              </a:spcBef>
              <a:defRPr sz="1300">
                <a:solidFill>
                  <a:srgbClr val="27313B"/>
                </a:solidFill>
                <a:latin typeface="Aptos"/>
              </a:defRPr>
            </a:pPr>
            <a:r>
              <a:t>• Functional: trace acceptance criteria to tests</a:t>
            </a:r>
            <a:br/>
            <a:r>
              <a:t>• Integration: payment, KYC, video, notifications and AI</a:t>
            </a:r>
            <a:br/>
            <a:r>
              <a:t>• Performance: API p95 ≤2.0 s; AI median ≤2.5 s</a:t>
            </a:r>
            <a:br/>
            <a:r>
              <a:t>• Security: VAPT, access-control and OWASP checks</a:t>
            </a:r>
            <a:br/>
            <a:r>
              <a:t>• UAT: all four pillar flows with users and vet expert</a:t>
            </a:r>
            <a:br/>
            <a:r>
              <a:t>• Pilot go/no-go: security, privacy, quality and supervisor sign-off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11064240" cy="530352"/>
          </a:xfrm>
          <a:prstGeom prst="rect">
            <a:avLst/>
          </a:prstGeom>
          <a:noFill/>
        </p:spPr>
        <p:txBody>
          <a:bodyPr wrap="square" lIns="36576" tIns="27432" rIns="36576" bIns="18288">
            <a:spAutoFit/>
          </a:bodyPr>
          <a:lstStyle/>
          <a:p>
            <a:pPr>
              <a:defRPr sz="2800" b="1">
                <a:solidFill>
                  <a:srgbClr val="14304C"/>
                </a:solidFill>
                <a:latin typeface="Aptos Display"/>
              </a:defRPr>
            </a:pPr>
            <a:r>
              <a:t>Next steps &amp; what we need from the panel</a:t>
            </a:r>
          </a:p>
        </p:txBody>
      </p:sp>
      <p:sp>
        <p:nvSpPr>
          <p:cNvPr id="4" name="TextBox 3"/>
          <p:cNvSpPr txBox="1"/>
          <p:nvPr/>
        </p:nvSpPr>
        <p:spPr>
          <a:xfrm>
            <a:off x="603504" y="850392"/>
            <a:ext cx="10972800" cy="310896"/>
          </a:xfrm>
          <a:prstGeom prst="rect">
            <a:avLst/>
          </a:prstGeom>
          <a:noFill/>
        </p:spPr>
        <p:txBody>
          <a:bodyPr wrap="square" lIns="36576" tIns="27432" rIns="36576" bIns="18288">
            <a:spAutoFit/>
          </a:bodyPr>
          <a:lstStyle/>
          <a:p>
            <a:pPr>
              <a:defRPr sz="1100" b="0">
                <a:solidFill>
                  <a:srgbClr val="616F7B"/>
                </a:solidFill>
                <a:latin typeface="Aptos"/>
              </a:defRPr>
            </a:pPr>
            <a:r>
              <a:t>The review should help us reduce the highest risks before Practicum-II</a:t>
            </a:r>
          </a:p>
        </p:txBody>
      </p:sp>
      <p:sp>
        <p:nvSpPr>
          <p:cNvPr id="5" name="TextBox 4"/>
          <p:cNvSpPr txBox="1"/>
          <p:nvPr/>
        </p:nvSpPr>
        <p:spPr>
          <a:xfrm>
            <a:off x="11201400" y="6519672"/>
            <a:ext cx="411480" cy="164592"/>
          </a:xfrm>
          <a:prstGeom prst="rect">
            <a:avLst/>
          </a:prstGeom>
          <a:noFill/>
        </p:spPr>
        <p:txBody>
          <a:bodyPr wrap="square" lIns="36576" tIns="27432" rIns="36576" bIns="18288">
            <a:spAutoFit/>
          </a:bodyPr>
          <a:lstStyle/>
          <a:p>
            <a:pPr algn="r">
              <a:defRPr sz="800" b="0">
                <a:solidFill>
                  <a:srgbClr val="616F7B"/>
                </a:solidFill>
                <a:latin typeface="Aptos"/>
              </a:defRPr>
            </a:pPr>
            <a:r>
              <a:t>25</a:t>
            </a:r>
          </a:p>
        </p:txBody>
      </p:sp>
      <p:sp>
        <p:nvSpPr>
          <p:cNvPr id="6" name="TextBox 5"/>
          <p:cNvSpPr txBox="1"/>
          <p:nvPr/>
        </p:nvSpPr>
        <p:spPr>
          <a:xfrm>
            <a:off x="566928" y="6492240"/>
            <a:ext cx="9144000" cy="164592"/>
          </a:xfrm>
          <a:prstGeom prst="rect">
            <a:avLst/>
          </a:prstGeom>
          <a:noFill/>
        </p:spPr>
        <p:txBody>
          <a:bodyPr wrap="square" lIns="36576" tIns="27432" rIns="36576" bIns="18288">
            <a:spAutoFit/>
          </a:bodyPr>
          <a:lstStyle/>
          <a:p>
            <a:pPr>
              <a:defRPr sz="800" b="0">
                <a:solidFill>
                  <a:srgbClr val="616F7B"/>
                </a:solidFill>
                <a:latin typeface="Aptos"/>
              </a:defRPr>
            </a:pPr>
            <a:r>
              <a:t>THEPETSVault  |  Practicum-I Mid Evaluation</a:t>
            </a:r>
          </a:p>
        </p:txBody>
      </p:sp>
      <p:sp>
        <p:nvSpPr>
          <p:cNvPr id="7" name="TextBox 6"/>
          <p:cNvSpPr txBox="1"/>
          <p:nvPr/>
        </p:nvSpPr>
        <p:spPr>
          <a:xfrm>
            <a:off x="11155680" y="6492240"/>
            <a:ext cx="457200" cy="164592"/>
          </a:xfrm>
          <a:prstGeom prst="rect">
            <a:avLst/>
          </a:prstGeom>
          <a:noFill/>
        </p:spPr>
        <p:txBody>
          <a:bodyPr wrap="square" lIns="36576" tIns="27432" rIns="36576" bIns="18288">
            <a:spAutoFit/>
          </a:bodyPr>
          <a:lstStyle/>
          <a:p>
            <a:pPr algn="r">
              <a:defRPr sz="800" b="0">
                <a:solidFill>
                  <a:srgbClr val="616F7B"/>
                </a:solidFill>
                <a:latin typeface="Aptos"/>
              </a:defRPr>
            </a:pPr>
            <a:r>
              <a:t>25</a:t>
            </a:r>
          </a:p>
        </p:txBody>
      </p:sp>
      <p:sp>
        <p:nvSpPr>
          <p:cNvPr id="8" name="Rounded Rectangle 7"/>
          <p:cNvSpPr/>
          <p:nvPr/>
        </p:nvSpPr>
        <p:spPr>
          <a:xfrm>
            <a:off x="685800" y="1417320"/>
            <a:ext cx="5303520" cy="3931920"/>
          </a:xfrm>
          <a:prstGeom prst="roundRect">
            <a:avLst/>
          </a:prstGeom>
          <a:solidFill>
            <a:srgbClr val="E7F1F8"/>
          </a:solidFill>
          <a:ln w="15240">
            <a:solidFill>
              <a:srgbClr val="286FA6"/>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rPr dirty="0"/>
              <a:t>TEAM NEXT STEPS</a:t>
            </a:r>
            <a:endParaRPr lang="en-US" dirty="0"/>
          </a:p>
          <a:p>
            <a:pPr algn="ctr">
              <a:defRPr sz="1500" b="1">
                <a:solidFill>
                  <a:srgbClr val="14304C"/>
                </a:solidFill>
                <a:latin typeface="Aptos Display"/>
              </a:defRPr>
            </a:pPr>
            <a:br>
              <a:rPr dirty="0"/>
            </a:br>
            <a:r>
              <a:rPr dirty="0"/>
              <a:t>• Nominate veterinary and architecture/SPM experts</a:t>
            </a:r>
            <a:br>
              <a:rPr dirty="0"/>
            </a:br>
            <a:r>
              <a:rPr dirty="0"/>
              <a:t>• Run persona and supply-side interviews</a:t>
            </a:r>
            <a:br>
              <a:rPr dirty="0"/>
            </a:br>
            <a:r>
              <a:rPr dirty="0"/>
              <a:t>• Request payment/KYC sandbox access early</a:t>
            </a:r>
            <a:br>
              <a:rPr dirty="0"/>
            </a:br>
            <a:r>
              <a:rPr dirty="0"/>
              <a:t>• Complete UX and architecture approval</a:t>
            </a:r>
            <a:br>
              <a:rPr dirty="0"/>
            </a:br>
            <a:r>
              <a:rPr dirty="0"/>
              <a:t>• Stand up cloud, CI/CD, authentication and RBAC</a:t>
            </a:r>
            <a:br>
              <a:rPr dirty="0"/>
            </a:br>
            <a:r>
              <a:rPr dirty="0"/>
              <a:t>• Build core prototype and AI proof-of-concept</a:t>
            </a:r>
          </a:p>
        </p:txBody>
      </p:sp>
      <p:sp>
        <p:nvSpPr>
          <p:cNvPr id="9" name="Rounded Rectangle 8"/>
          <p:cNvSpPr/>
          <p:nvPr/>
        </p:nvSpPr>
        <p:spPr>
          <a:xfrm>
            <a:off x="6217920" y="1417320"/>
            <a:ext cx="5257800" cy="3931920"/>
          </a:xfrm>
          <a:prstGeom prst="roundRect">
            <a:avLst/>
          </a:prstGeom>
          <a:solidFill>
            <a:srgbClr val="E6F4F0"/>
          </a:solidFill>
          <a:ln w="15240">
            <a:solidFill>
              <a:srgbClr val="1B8B82"/>
            </a:solidFill>
          </a:ln>
        </p:spPr>
        <p:style>
          <a:lnRef idx="1">
            <a:schemeClr val="accent1"/>
          </a:lnRef>
          <a:fillRef idx="3">
            <a:schemeClr val="accent1"/>
          </a:fillRef>
          <a:effectRef idx="2">
            <a:schemeClr val="accent1"/>
          </a:effectRef>
          <a:fontRef idx="minor">
            <a:schemeClr val="lt1"/>
          </a:fontRef>
        </p:style>
        <p:txBody>
          <a:bodyPr wrap="square" lIns="164592" tIns="118872" rIns="137160" bIns="73152" rtlCol="0" anchor="ctr"/>
          <a:lstStyle/>
          <a:p>
            <a:pPr algn="ctr">
              <a:defRPr sz="1500" b="1">
                <a:solidFill>
                  <a:srgbClr val="14304C"/>
                </a:solidFill>
                <a:latin typeface="Aptos Display"/>
              </a:defRPr>
            </a:pPr>
            <a:r>
              <a:t>REQUESTED PANEL INPUT</a:t>
            </a:r>
          </a:p>
          <a:p>
            <a:pPr>
              <a:spcBef>
                <a:spcPts val="700"/>
              </a:spcBef>
              <a:defRPr sz="1300">
                <a:solidFill>
                  <a:srgbClr val="27313B"/>
                </a:solidFill>
                <a:latin typeface="Aptos"/>
              </a:defRPr>
            </a:pPr>
            <a:r>
              <a:t>• Review scope, success criteria and budget baseline</a:t>
            </a:r>
            <a:br/>
            <a:r>
              <a:t>• Challenge AI safety boundaries</a:t>
            </a:r>
            <a:br/>
            <a:r>
              <a:t>• Advise Karachi pilot supply strategy</a:t>
            </a:r>
            <a:br/>
            <a:r>
              <a:t>• Confirm Month 6 gate evidence</a:t>
            </a:r>
            <a:br/>
            <a:r>
              <a:t>• Prioritise supplier payouts, incident reporting and AI fraud scoring decisions</a:t>
            </a:r>
          </a:p>
        </p:txBody>
      </p:sp>
      <p:sp>
        <p:nvSpPr>
          <p:cNvPr id="10" name="TextBox 9"/>
          <p:cNvSpPr txBox="1"/>
          <p:nvPr/>
        </p:nvSpPr>
        <p:spPr>
          <a:xfrm>
            <a:off x="822960" y="5760720"/>
            <a:ext cx="10424160" cy="411480"/>
          </a:xfrm>
          <a:prstGeom prst="rect">
            <a:avLst/>
          </a:prstGeom>
          <a:noFill/>
        </p:spPr>
        <p:txBody>
          <a:bodyPr wrap="square" lIns="36576" tIns="27432" rIns="36576" bIns="18288">
            <a:spAutoFit/>
          </a:bodyPr>
          <a:lstStyle/>
          <a:p>
            <a:pPr algn="ctr">
              <a:defRPr sz="1600" b="1">
                <a:solidFill>
                  <a:srgbClr val="14304C"/>
                </a:solidFill>
                <a:latin typeface="Aptos"/>
              </a:defRPr>
            </a:pPr>
            <a:r>
              <a:t>Our priority is to validate the riskiest assumptions early and proceed only when the gate evidence is ready.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304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86F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25880"/>
            <a:ext cx="10789920" cy="731520"/>
          </a:xfrm>
          <a:prstGeom prst="rect">
            <a:avLst/>
          </a:prstGeom>
          <a:noFill/>
        </p:spPr>
        <p:txBody>
          <a:bodyPr wrap="square" lIns="36576" tIns="27432" rIns="36576" bIns="18288">
            <a:spAutoFit/>
          </a:bodyPr>
          <a:lstStyle/>
          <a:p>
            <a:pPr algn="ctr">
              <a:defRPr sz="3600" b="1">
                <a:solidFill>
                  <a:srgbClr val="FFFFFF"/>
                </a:solidFill>
                <a:latin typeface="Aptos Display"/>
              </a:defRPr>
            </a:pPr>
            <a:r>
              <a:t>Thank you</a:t>
            </a:r>
          </a:p>
        </p:txBody>
      </p:sp>
      <p:sp>
        <p:nvSpPr>
          <p:cNvPr id="4" name="TextBox 3"/>
          <p:cNvSpPr txBox="1"/>
          <p:nvPr/>
        </p:nvSpPr>
        <p:spPr>
          <a:xfrm>
            <a:off x="1097280" y="2331720"/>
            <a:ext cx="9966960" cy="685800"/>
          </a:xfrm>
          <a:prstGeom prst="rect">
            <a:avLst/>
          </a:prstGeom>
          <a:noFill/>
        </p:spPr>
        <p:txBody>
          <a:bodyPr wrap="square" lIns="36576" tIns="27432" rIns="36576" bIns="18288">
            <a:spAutoFit/>
          </a:bodyPr>
          <a:lstStyle/>
          <a:p>
            <a:pPr algn="ctr">
              <a:defRPr sz="2000" b="0">
                <a:solidFill>
                  <a:srgbClr val="E2ECF4"/>
                </a:solidFill>
                <a:latin typeface="Aptos"/>
              </a:defRPr>
            </a:pPr>
            <a:r>
              <a:t>Questions, feedback and recommendations from the evaluation panel are welcome.</a:t>
            </a:r>
          </a:p>
        </p:txBody>
      </p:sp>
      <p:sp>
        <p:nvSpPr>
          <p:cNvPr id="5" name="TextBox 4"/>
          <p:cNvSpPr txBox="1"/>
          <p:nvPr/>
        </p:nvSpPr>
        <p:spPr>
          <a:xfrm>
            <a:off x="1188720" y="3749039"/>
            <a:ext cx="9784080" cy="640080"/>
          </a:xfrm>
          <a:prstGeom prst="rect">
            <a:avLst/>
          </a:prstGeom>
          <a:noFill/>
        </p:spPr>
        <p:txBody>
          <a:bodyPr wrap="square" lIns="36576" tIns="27432" rIns="36576" bIns="18288">
            <a:spAutoFit/>
          </a:bodyPr>
          <a:lstStyle/>
          <a:p>
            <a:pPr algn="ctr">
              <a:defRPr sz="1800" b="1">
                <a:solidFill>
                  <a:srgbClr val="FFFFFF"/>
                </a:solidFill>
                <a:latin typeface="Aptos"/>
              </a:defRPr>
            </a:pPr>
            <a:r>
              <a:t>ThePetsVault  |  A trusted pet ecosystem</a:t>
            </a:r>
          </a:p>
        </p:txBody>
      </p:sp>
      <p:sp>
        <p:nvSpPr>
          <p:cNvPr id="6" name="TextBox 5"/>
          <p:cNvSpPr txBox="1"/>
          <p:nvPr/>
        </p:nvSpPr>
        <p:spPr>
          <a:xfrm>
            <a:off x="1188720" y="6172200"/>
            <a:ext cx="9784080" cy="274320"/>
          </a:xfrm>
          <a:prstGeom prst="rect">
            <a:avLst/>
          </a:prstGeom>
          <a:noFill/>
        </p:spPr>
        <p:txBody>
          <a:bodyPr wrap="square" lIns="36576" tIns="27432" rIns="36576" bIns="18288">
            <a:spAutoFit/>
          </a:bodyPr>
          <a:lstStyle/>
          <a:p>
            <a:pPr algn="ctr">
              <a:defRPr sz="1000" b="0">
                <a:solidFill>
                  <a:srgbClr val="E2ECF4"/>
                </a:solidFill>
                <a:latin typeface="Aptos"/>
              </a:defRPr>
            </a:pPr>
            <a:r>
              <a:t>Syed Rafay Hasan • Hammad Farman • Ghazi Abid • Laiba Mumtaz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2450</Words>
  <Application>Microsoft Office PowerPoint</Application>
  <PresentationFormat>Widescreen</PresentationFormat>
  <Paragraphs>286</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Syed Rafay Hasan</cp:lastModifiedBy>
  <cp:revision>4</cp:revision>
  <dcterms:created xsi:type="dcterms:W3CDTF">2013-01-27T09:14:16Z</dcterms:created>
  <dcterms:modified xsi:type="dcterms:W3CDTF">2026-10-15T11:31:22Z</dcterms:modified>
  <cp:category/>
</cp:coreProperties>
</file>